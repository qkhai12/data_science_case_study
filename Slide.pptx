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Bungee" charset="1" panose="00000000000000000000"/>
      <p:regular r:id="rId15"/>
    </p:embeddedFont>
    <p:embeddedFont>
      <p:font typeface="Anton" charset="1" panose="00000500000000000000"/>
      <p:regular r:id="rId16"/>
    </p:embeddedFont>
    <p:embeddedFont>
      <p:font typeface="Public Sans Italics" charset="1" panose="00000000000000000000"/>
      <p:regular r:id="rId17"/>
    </p:embeddedFont>
    <p:embeddedFont>
      <p:font typeface="Public Sans Bold" charset="1" panose="00000000000000000000"/>
      <p:regular r:id="rId18"/>
    </p:embeddedFont>
    <p:embeddedFont>
      <p:font typeface="Public Sans" charset="1" panose="00000000000000000000"/>
      <p:regular r:id="rId19"/>
    </p:embeddedFont>
    <p:embeddedFont>
      <p:font typeface="Noto Sans Bold" charset="1" panose="020B0802040504020204"/>
      <p:regular r:id="rId20"/>
    </p:embeddedFont>
    <p:embeddedFont>
      <p:font typeface="Public Sans Bold Italics"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4.pn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2" Target="../media/image4.pn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33.pn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3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48390" y="-373576"/>
            <a:ext cx="19108432" cy="10859458"/>
            <a:chOff x="0" y="0"/>
            <a:chExt cx="25477909" cy="14479278"/>
          </a:xfrm>
        </p:grpSpPr>
        <p:pic>
          <p:nvPicPr>
            <p:cNvPr name="Picture 3" id="3"/>
            <p:cNvPicPr>
              <a:picLocks noChangeAspect="true"/>
            </p:cNvPicPr>
            <p:nvPr/>
          </p:nvPicPr>
          <p:blipFill>
            <a:blip r:embed="rId2">
              <a:alphaModFix amt="78000"/>
            </a:blip>
            <a:srcRect l="0" t="7390" r="0" b="7390"/>
            <a:stretch>
              <a:fillRect/>
            </a:stretch>
          </p:blipFill>
          <p:spPr>
            <a:xfrm flipH="false" flipV="false">
              <a:off x="0" y="0"/>
              <a:ext cx="25477909" cy="14479278"/>
            </a:xfrm>
            <a:prstGeom prst="rect">
              <a:avLst/>
            </a:prstGeom>
          </p:spPr>
        </p:pic>
      </p:grpSp>
      <p:sp>
        <p:nvSpPr>
          <p:cNvPr name="Freeform 4" id="4"/>
          <p:cNvSpPr/>
          <p:nvPr/>
        </p:nvSpPr>
        <p:spPr>
          <a:xfrm flipH="false" flipV="false" rot="5400000">
            <a:off x="-1108992" y="-637149"/>
            <a:ext cx="11460526" cy="11460526"/>
          </a:xfrm>
          <a:custGeom>
            <a:avLst/>
            <a:gdLst/>
            <a:ahLst/>
            <a:cxnLst/>
            <a:rect r="r" b="b" t="t" l="l"/>
            <a:pathLst>
              <a:path h="11460526" w="11460526">
                <a:moveTo>
                  <a:pt x="0" y="0"/>
                </a:moveTo>
                <a:lnTo>
                  <a:pt x="11460527" y="0"/>
                </a:lnTo>
                <a:lnTo>
                  <a:pt x="11460527" y="11460527"/>
                </a:lnTo>
                <a:lnTo>
                  <a:pt x="0" y="11460527"/>
                </a:lnTo>
                <a:lnTo>
                  <a:pt x="0" y="0"/>
                </a:lnTo>
                <a:close/>
              </a:path>
            </a:pathLst>
          </a:custGeom>
          <a:blipFill>
            <a:blip r:embed="rId3">
              <a:alphaModFix amt="63000"/>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201142" y="461982"/>
            <a:ext cx="5370712" cy="5328726"/>
          </a:xfrm>
          <a:prstGeom prst="rect">
            <a:avLst/>
          </a:prstGeom>
        </p:spPr>
        <p:txBody>
          <a:bodyPr anchor="t" rtlCol="false" tIns="0" lIns="0" bIns="0" rIns="0">
            <a:spAutoFit/>
          </a:bodyPr>
          <a:lstStyle/>
          <a:p>
            <a:pPr algn="l">
              <a:lnSpc>
                <a:spcPts val="8124"/>
              </a:lnSpc>
            </a:pPr>
            <a:r>
              <a:rPr lang="en-US" sz="8124" spc="-162">
                <a:solidFill>
                  <a:srgbClr val="3F6582"/>
                </a:solidFill>
                <a:latin typeface="Bungee"/>
                <a:ea typeface="Bungee"/>
                <a:cs typeface="Bungee"/>
                <a:sym typeface="Bungee"/>
              </a:rPr>
              <a:t>Tiki Product Demand Case Study</a:t>
            </a:r>
          </a:p>
        </p:txBody>
      </p:sp>
      <p:sp>
        <p:nvSpPr>
          <p:cNvPr name="TextBox 6" id="6"/>
          <p:cNvSpPr txBox="true"/>
          <p:nvPr/>
        </p:nvSpPr>
        <p:spPr>
          <a:xfrm rot="0">
            <a:off x="8322090" y="1323644"/>
            <a:ext cx="6971134" cy="1416812"/>
          </a:xfrm>
          <a:prstGeom prst="rect">
            <a:avLst/>
          </a:prstGeom>
        </p:spPr>
        <p:txBody>
          <a:bodyPr anchor="t" rtlCol="false" tIns="0" lIns="0" bIns="0" rIns="0">
            <a:spAutoFit/>
          </a:bodyPr>
          <a:lstStyle/>
          <a:p>
            <a:pPr algn="l">
              <a:lnSpc>
                <a:spcPts val="5808"/>
              </a:lnSpc>
            </a:pPr>
            <a:r>
              <a:rPr lang="en-US" sz="3699">
                <a:solidFill>
                  <a:srgbClr val="192734"/>
                </a:solidFill>
                <a:latin typeface="Anton"/>
                <a:ea typeface="Anton"/>
                <a:cs typeface="Anton"/>
                <a:sym typeface="Anton"/>
              </a:rPr>
              <a:t>RQ1: Sự khác biệt giữa các nhóm sản phẩm thời trang trên Tiki?</a:t>
            </a:r>
          </a:p>
        </p:txBody>
      </p:sp>
      <p:sp>
        <p:nvSpPr>
          <p:cNvPr name="TextBox 7" id="7"/>
          <p:cNvSpPr txBox="true"/>
          <p:nvPr/>
        </p:nvSpPr>
        <p:spPr>
          <a:xfrm rot="0">
            <a:off x="9815157" y="4007046"/>
            <a:ext cx="6971134" cy="1277621"/>
          </a:xfrm>
          <a:prstGeom prst="rect">
            <a:avLst/>
          </a:prstGeom>
        </p:spPr>
        <p:txBody>
          <a:bodyPr anchor="t" rtlCol="false" tIns="0" lIns="0" bIns="0" rIns="0">
            <a:spAutoFit/>
          </a:bodyPr>
          <a:lstStyle/>
          <a:p>
            <a:pPr algn="l">
              <a:lnSpc>
                <a:spcPts val="5179"/>
              </a:lnSpc>
              <a:spcBef>
                <a:spcPct val="0"/>
              </a:spcBef>
            </a:pPr>
            <a:r>
              <a:rPr lang="en-US" sz="3699">
                <a:solidFill>
                  <a:srgbClr val="192734"/>
                </a:solidFill>
                <a:latin typeface="Anton"/>
                <a:ea typeface="Anton"/>
                <a:cs typeface="Anton"/>
                <a:sym typeface="Anton"/>
              </a:rPr>
              <a:t>RQ2: Ảnh</a:t>
            </a:r>
            <a:r>
              <a:rPr lang="en-US" sz="3699">
                <a:solidFill>
                  <a:srgbClr val="192734"/>
                </a:solidFill>
                <a:latin typeface="Anton"/>
                <a:ea typeface="Anton"/>
                <a:cs typeface="Anton"/>
                <a:sym typeface="Anton"/>
              </a:rPr>
              <a:t> hưởng của video giới thiệu đến doanh số? </a:t>
            </a:r>
          </a:p>
        </p:txBody>
      </p:sp>
      <p:sp>
        <p:nvSpPr>
          <p:cNvPr name="TextBox 8" id="8"/>
          <p:cNvSpPr txBox="true"/>
          <p:nvPr/>
        </p:nvSpPr>
        <p:spPr>
          <a:xfrm rot="0">
            <a:off x="10817480" y="6798596"/>
            <a:ext cx="7470520" cy="1277621"/>
          </a:xfrm>
          <a:prstGeom prst="rect">
            <a:avLst/>
          </a:prstGeom>
        </p:spPr>
        <p:txBody>
          <a:bodyPr anchor="t" rtlCol="false" tIns="0" lIns="0" bIns="0" rIns="0">
            <a:spAutoFit/>
          </a:bodyPr>
          <a:lstStyle/>
          <a:p>
            <a:pPr algn="l">
              <a:lnSpc>
                <a:spcPts val="5179"/>
              </a:lnSpc>
              <a:spcBef>
                <a:spcPct val="0"/>
              </a:spcBef>
            </a:pPr>
            <a:r>
              <a:rPr lang="en-US" sz="3699">
                <a:solidFill>
                  <a:srgbClr val="000000"/>
                </a:solidFill>
                <a:latin typeface="Anton"/>
                <a:ea typeface="Anton"/>
                <a:cs typeface="Anton"/>
                <a:sym typeface="Anton"/>
              </a:rPr>
              <a:t>RQ3: Đặc</a:t>
            </a:r>
            <a:r>
              <a:rPr lang="en-US" sz="3699">
                <a:solidFill>
                  <a:srgbClr val="000000"/>
                </a:solidFill>
                <a:latin typeface="Anton"/>
                <a:ea typeface="Anton"/>
                <a:cs typeface="Anton"/>
                <a:sym typeface="Anton"/>
              </a:rPr>
              <a:t> trưng nào ảnh hưởng đến nhu cầu sản phẩm?</a:t>
            </a:r>
          </a:p>
        </p:txBody>
      </p:sp>
      <p:sp>
        <p:nvSpPr>
          <p:cNvPr name="Freeform 9" id="9"/>
          <p:cNvSpPr/>
          <p:nvPr/>
        </p:nvSpPr>
        <p:spPr>
          <a:xfrm flipH="false" flipV="false" rot="0">
            <a:off x="16294883" y="257425"/>
            <a:ext cx="1652829" cy="1652829"/>
          </a:xfrm>
          <a:custGeom>
            <a:avLst/>
            <a:gdLst/>
            <a:ahLst/>
            <a:cxnLst/>
            <a:rect r="r" b="b" t="t" l="l"/>
            <a:pathLst>
              <a:path h="1652829" w="1652829">
                <a:moveTo>
                  <a:pt x="0" y="0"/>
                </a:moveTo>
                <a:lnTo>
                  <a:pt x="1652829" y="0"/>
                </a:lnTo>
                <a:lnTo>
                  <a:pt x="1652829" y="1652829"/>
                </a:lnTo>
                <a:lnTo>
                  <a:pt x="0" y="1652829"/>
                </a:lnTo>
                <a:lnTo>
                  <a:pt x="0" y="0"/>
                </a:lnTo>
                <a:close/>
              </a:path>
            </a:pathLst>
          </a:custGeom>
          <a:blipFill>
            <a:blip r:embed="rId5">
              <a:alphaModFix amt="70000"/>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294883" y="257425"/>
            <a:ext cx="1652829" cy="1652829"/>
          </a:xfrm>
          <a:custGeom>
            <a:avLst/>
            <a:gdLst/>
            <a:ahLst/>
            <a:cxnLst/>
            <a:rect r="r" b="b" t="t" l="l"/>
            <a:pathLst>
              <a:path h="1652829" w="1652829">
                <a:moveTo>
                  <a:pt x="0" y="0"/>
                </a:moveTo>
                <a:lnTo>
                  <a:pt x="1652829" y="0"/>
                </a:lnTo>
                <a:lnTo>
                  <a:pt x="1652829" y="1652829"/>
                </a:lnTo>
                <a:lnTo>
                  <a:pt x="0" y="1652829"/>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1761611" y="1208348"/>
            <a:ext cx="6513958" cy="3224409"/>
          </a:xfrm>
          <a:custGeom>
            <a:avLst/>
            <a:gdLst/>
            <a:ahLst/>
            <a:cxnLst/>
            <a:rect r="r" b="b" t="t" l="l"/>
            <a:pathLst>
              <a:path h="3224409" w="6513958">
                <a:moveTo>
                  <a:pt x="0" y="0"/>
                </a:moveTo>
                <a:lnTo>
                  <a:pt x="6513958" y="0"/>
                </a:lnTo>
                <a:lnTo>
                  <a:pt x="6513958" y="3224410"/>
                </a:lnTo>
                <a:lnTo>
                  <a:pt x="0" y="3224410"/>
                </a:lnTo>
                <a:lnTo>
                  <a:pt x="0" y="0"/>
                </a:lnTo>
                <a:close/>
              </a:path>
            </a:pathLst>
          </a:custGeom>
          <a:blipFill>
            <a:blip r:embed="rId3"/>
            <a:stretch>
              <a:fillRect l="0" t="0" r="0" b="0"/>
            </a:stretch>
          </a:blipFill>
        </p:spPr>
      </p:sp>
      <p:sp>
        <p:nvSpPr>
          <p:cNvPr name="Freeform 4" id="4"/>
          <p:cNvSpPr/>
          <p:nvPr/>
        </p:nvSpPr>
        <p:spPr>
          <a:xfrm flipH="false" flipV="false" rot="0">
            <a:off x="9758599" y="1208348"/>
            <a:ext cx="5939722" cy="3224409"/>
          </a:xfrm>
          <a:custGeom>
            <a:avLst/>
            <a:gdLst/>
            <a:ahLst/>
            <a:cxnLst/>
            <a:rect r="r" b="b" t="t" l="l"/>
            <a:pathLst>
              <a:path h="3224409" w="5939722">
                <a:moveTo>
                  <a:pt x="0" y="0"/>
                </a:moveTo>
                <a:lnTo>
                  <a:pt x="5939722" y="0"/>
                </a:lnTo>
                <a:lnTo>
                  <a:pt x="5939722" y="3224410"/>
                </a:lnTo>
                <a:lnTo>
                  <a:pt x="0" y="3224410"/>
                </a:lnTo>
                <a:lnTo>
                  <a:pt x="0" y="0"/>
                </a:lnTo>
                <a:close/>
              </a:path>
            </a:pathLst>
          </a:custGeom>
          <a:blipFill>
            <a:blip r:embed="rId4"/>
            <a:stretch>
              <a:fillRect l="-1881" t="-192" r="0" b="-3265"/>
            </a:stretch>
          </a:blipFill>
        </p:spPr>
      </p:sp>
      <p:sp>
        <p:nvSpPr>
          <p:cNvPr name="Freeform 5" id="5"/>
          <p:cNvSpPr/>
          <p:nvPr/>
        </p:nvSpPr>
        <p:spPr>
          <a:xfrm flipH="false" flipV="false" rot="0">
            <a:off x="623917" y="4680408"/>
            <a:ext cx="6444802" cy="4346349"/>
          </a:xfrm>
          <a:custGeom>
            <a:avLst/>
            <a:gdLst/>
            <a:ahLst/>
            <a:cxnLst/>
            <a:rect r="r" b="b" t="t" l="l"/>
            <a:pathLst>
              <a:path h="4346349" w="6444802">
                <a:moveTo>
                  <a:pt x="0" y="0"/>
                </a:moveTo>
                <a:lnTo>
                  <a:pt x="6444803" y="0"/>
                </a:lnTo>
                <a:lnTo>
                  <a:pt x="6444803" y="4346348"/>
                </a:lnTo>
                <a:lnTo>
                  <a:pt x="0" y="4346348"/>
                </a:lnTo>
                <a:lnTo>
                  <a:pt x="0" y="0"/>
                </a:lnTo>
                <a:close/>
              </a:path>
            </a:pathLst>
          </a:custGeom>
          <a:blipFill>
            <a:blip r:embed="rId5"/>
            <a:stretch>
              <a:fillRect l="0" t="0" r="0" b="-5351"/>
            </a:stretch>
          </a:blipFill>
        </p:spPr>
      </p:sp>
      <p:sp>
        <p:nvSpPr>
          <p:cNvPr name="Freeform 6" id="6"/>
          <p:cNvSpPr/>
          <p:nvPr/>
        </p:nvSpPr>
        <p:spPr>
          <a:xfrm flipH="false" flipV="false" rot="0">
            <a:off x="8589903" y="4913023"/>
            <a:ext cx="6750833" cy="4113733"/>
          </a:xfrm>
          <a:custGeom>
            <a:avLst/>
            <a:gdLst/>
            <a:ahLst/>
            <a:cxnLst/>
            <a:rect r="r" b="b" t="t" l="l"/>
            <a:pathLst>
              <a:path h="4113733" w="6750833">
                <a:moveTo>
                  <a:pt x="0" y="0"/>
                </a:moveTo>
                <a:lnTo>
                  <a:pt x="6750833" y="0"/>
                </a:lnTo>
                <a:lnTo>
                  <a:pt x="6750833" y="4113733"/>
                </a:lnTo>
                <a:lnTo>
                  <a:pt x="0" y="4113733"/>
                </a:lnTo>
                <a:lnTo>
                  <a:pt x="0" y="0"/>
                </a:lnTo>
                <a:close/>
              </a:path>
            </a:pathLst>
          </a:custGeom>
          <a:blipFill>
            <a:blip r:embed="rId6"/>
            <a:stretch>
              <a:fillRect l="0" t="-6468" r="0" b="-6468"/>
            </a:stretch>
          </a:blipFill>
        </p:spPr>
      </p:sp>
      <p:sp>
        <p:nvSpPr>
          <p:cNvPr name="TextBox 7" id="7"/>
          <p:cNvSpPr txBox="true"/>
          <p:nvPr/>
        </p:nvSpPr>
        <p:spPr>
          <a:xfrm rot="0">
            <a:off x="234295" y="178053"/>
            <a:ext cx="15660538" cy="783717"/>
          </a:xfrm>
          <a:prstGeom prst="rect">
            <a:avLst/>
          </a:prstGeom>
        </p:spPr>
        <p:txBody>
          <a:bodyPr anchor="t" rtlCol="false" tIns="0" lIns="0" bIns="0" rIns="0">
            <a:spAutoFit/>
          </a:bodyPr>
          <a:lstStyle/>
          <a:p>
            <a:pPr algn="l">
              <a:lnSpc>
                <a:spcPts val="6594"/>
              </a:lnSpc>
            </a:pPr>
            <a:r>
              <a:rPr lang="en-US" sz="4200">
                <a:solidFill>
                  <a:srgbClr val="000000"/>
                </a:solidFill>
                <a:latin typeface="Anton"/>
                <a:ea typeface="Anton"/>
                <a:cs typeface="Anton"/>
                <a:sym typeface="Anton"/>
              </a:rPr>
              <a:t>RQ1: CÁC NHÓM SẢN PHẨM THỜI TRANG TRÊN TIKI KHÁC NHAU NHƯ THẾ NÀO? </a:t>
            </a:r>
          </a:p>
        </p:txBody>
      </p:sp>
      <p:sp>
        <p:nvSpPr>
          <p:cNvPr name="TextBox 8" id="8"/>
          <p:cNvSpPr txBox="true"/>
          <p:nvPr/>
        </p:nvSpPr>
        <p:spPr>
          <a:xfrm rot="0">
            <a:off x="894606" y="9191625"/>
            <a:ext cx="16834025" cy="1038225"/>
          </a:xfrm>
          <a:prstGeom prst="rect">
            <a:avLst/>
          </a:prstGeom>
        </p:spPr>
        <p:txBody>
          <a:bodyPr anchor="t" rtlCol="false" tIns="0" lIns="0" bIns="0" rIns="0">
            <a:spAutoFit/>
          </a:bodyPr>
          <a:lstStyle/>
          <a:p>
            <a:pPr algn="l">
              <a:lnSpc>
                <a:spcPts val="4199"/>
              </a:lnSpc>
              <a:spcBef>
                <a:spcPct val="0"/>
              </a:spcBef>
            </a:pPr>
            <a:r>
              <a:rPr lang="en-US" sz="2999" i="true">
                <a:solidFill>
                  <a:srgbClr val="000000"/>
                </a:solidFill>
                <a:latin typeface="Public Sans Italics"/>
                <a:ea typeface="Public Sans Italics"/>
                <a:cs typeface="Public Sans Italics"/>
                <a:sym typeface="Public Sans Italics"/>
              </a:rPr>
              <a:t>Các nhóm sản phẩm thờ</a:t>
            </a:r>
            <a:r>
              <a:rPr lang="en-US" sz="2999" i="true">
                <a:solidFill>
                  <a:srgbClr val="000000"/>
                </a:solidFill>
                <a:latin typeface="Public Sans Italics"/>
                <a:ea typeface="Public Sans Italics"/>
                <a:cs typeface="Public Sans Italics"/>
                <a:sym typeface="Public Sans Italics"/>
              </a:rPr>
              <a:t>i trang trên Tiki có đặc điểm kinh doanh và mức độ tiêu thụ khác nhau. Kết quả này cho thấy cần xem xét từng nhóm sản phẩm riêng biệt trong các phân tích tiếp theo.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4F3"/>
        </a:solidFill>
      </p:bgPr>
    </p:bg>
    <p:spTree>
      <p:nvGrpSpPr>
        <p:cNvPr id="1" name=""/>
        <p:cNvGrpSpPr/>
        <p:nvPr/>
      </p:nvGrpSpPr>
      <p:grpSpPr>
        <a:xfrm>
          <a:off x="0" y="0"/>
          <a:ext cx="0" cy="0"/>
          <a:chOff x="0" y="0"/>
          <a:chExt cx="0" cy="0"/>
        </a:xfrm>
      </p:grpSpPr>
      <p:sp>
        <p:nvSpPr>
          <p:cNvPr name="Freeform 2" id="2"/>
          <p:cNvSpPr/>
          <p:nvPr/>
        </p:nvSpPr>
        <p:spPr>
          <a:xfrm flipH="false" flipV="false" rot="0">
            <a:off x="8362428" y="4038774"/>
            <a:ext cx="9690366" cy="6144722"/>
          </a:xfrm>
          <a:custGeom>
            <a:avLst/>
            <a:gdLst/>
            <a:ahLst/>
            <a:cxnLst/>
            <a:rect r="r" b="b" t="t" l="l"/>
            <a:pathLst>
              <a:path h="6144722" w="9690366">
                <a:moveTo>
                  <a:pt x="0" y="0"/>
                </a:moveTo>
                <a:lnTo>
                  <a:pt x="9690367" y="0"/>
                </a:lnTo>
                <a:lnTo>
                  <a:pt x="9690367" y="6144722"/>
                </a:lnTo>
                <a:lnTo>
                  <a:pt x="0" y="6144722"/>
                </a:lnTo>
                <a:lnTo>
                  <a:pt x="0" y="0"/>
                </a:lnTo>
                <a:close/>
              </a:path>
            </a:pathLst>
          </a:custGeom>
          <a:blipFill>
            <a:blip r:embed="rId2"/>
            <a:stretch>
              <a:fillRect l="-4379" t="0" r="0" b="0"/>
            </a:stretch>
          </a:blipFill>
        </p:spPr>
      </p:sp>
      <p:sp>
        <p:nvSpPr>
          <p:cNvPr name="Freeform 3" id="3"/>
          <p:cNvSpPr/>
          <p:nvPr/>
        </p:nvSpPr>
        <p:spPr>
          <a:xfrm flipH="false" flipV="false" rot="0">
            <a:off x="234295" y="4038774"/>
            <a:ext cx="8339765" cy="1531535"/>
          </a:xfrm>
          <a:custGeom>
            <a:avLst/>
            <a:gdLst/>
            <a:ahLst/>
            <a:cxnLst/>
            <a:rect r="r" b="b" t="t" l="l"/>
            <a:pathLst>
              <a:path h="1531535" w="8339765">
                <a:moveTo>
                  <a:pt x="0" y="0"/>
                </a:moveTo>
                <a:lnTo>
                  <a:pt x="8339766" y="0"/>
                </a:lnTo>
                <a:lnTo>
                  <a:pt x="8339766" y="1531535"/>
                </a:lnTo>
                <a:lnTo>
                  <a:pt x="0" y="1531535"/>
                </a:lnTo>
                <a:lnTo>
                  <a:pt x="0" y="0"/>
                </a:lnTo>
                <a:close/>
              </a:path>
            </a:pathLst>
          </a:custGeom>
          <a:blipFill>
            <a:blip r:embed="rId3"/>
            <a:stretch>
              <a:fillRect l="-6874" t="-9062" r="-661" b="0"/>
            </a:stretch>
          </a:blipFill>
        </p:spPr>
      </p:sp>
      <p:sp>
        <p:nvSpPr>
          <p:cNvPr name="Freeform 4" id="4"/>
          <p:cNvSpPr/>
          <p:nvPr/>
        </p:nvSpPr>
        <p:spPr>
          <a:xfrm flipH="false" flipV="false" rot="0">
            <a:off x="16294883" y="257425"/>
            <a:ext cx="1652829" cy="1652829"/>
          </a:xfrm>
          <a:custGeom>
            <a:avLst/>
            <a:gdLst/>
            <a:ahLst/>
            <a:cxnLst/>
            <a:rect r="r" b="b" t="t" l="l"/>
            <a:pathLst>
              <a:path h="1652829" w="1652829">
                <a:moveTo>
                  <a:pt x="0" y="0"/>
                </a:moveTo>
                <a:lnTo>
                  <a:pt x="1652829" y="0"/>
                </a:lnTo>
                <a:lnTo>
                  <a:pt x="1652829" y="1652829"/>
                </a:lnTo>
                <a:lnTo>
                  <a:pt x="0" y="1652829"/>
                </a:lnTo>
                <a:lnTo>
                  <a:pt x="0" y="0"/>
                </a:lnTo>
                <a:close/>
              </a:path>
            </a:pathLst>
          </a:custGeom>
          <a:blipFill>
            <a:blip r:embed="rId4">
              <a:alphaModFix amt="20999"/>
            </a:blip>
            <a:stretch>
              <a:fillRect l="0" t="0" r="0" b="0"/>
            </a:stretch>
          </a:blipFill>
        </p:spPr>
      </p:sp>
      <p:sp>
        <p:nvSpPr>
          <p:cNvPr name="Freeform 5" id="5"/>
          <p:cNvSpPr/>
          <p:nvPr/>
        </p:nvSpPr>
        <p:spPr>
          <a:xfrm flipH="false" flipV="true" rot="2378418">
            <a:off x="531606" y="8581722"/>
            <a:ext cx="427025" cy="243902"/>
          </a:xfrm>
          <a:custGeom>
            <a:avLst/>
            <a:gdLst/>
            <a:ahLst/>
            <a:cxnLst/>
            <a:rect r="r" b="b" t="t" l="l"/>
            <a:pathLst>
              <a:path h="243902" w="427025">
                <a:moveTo>
                  <a:pt x="0" y="243902"/>
                </a:moveTo>
                <a:lnTo>
                  <a:pt x="427025" y="243902"/>
                </a:lnTo>
                <a:lnTo>
                  <a:pt x="427025" y="0"/>
                </a:lnTo>
                <a:lnTo>
                  <a:pt x="0" y="0"/>
                </a:lnTo>
                <a:lnTo>
                  <a:pt x="0" y="243902"/>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234295" y="178053"/>
            <a:ext cx="15660538" cy="783717"/>
          </a:xfrm>
          <a:prstGeom prst="rect">
            <a:avLst/>
          </a:prstGeom>
        </p:spPr>
        <p:txBody>
          <a:bodyPr anchor="t" rtlCol="false" tIns="0" lIns="0" bIns="0" rIns="0">
            <a:spAutoFit/>
          </a:bodyPr>
          <a:lstStyle/>
          <a:p>
            <a:pPr algn="l">
              <a:lnSpc>
                <a:spcPts val="6594"/>
              </a:lnSpc>
            </a:pPr>
            <a:r>
              <a:rPr lang="en-US" sz="4200">
                <a:solidFill>
                  <a:srgbClr val="000000"/>
                </a:solidFill>
                <a:latin typeface="Anton"/>
                <a:ea typeface="Anton"/>
                <a:cs typeface="Anton"/>
                <a:sym typeface="Anton"/>
              </a:rPr>
              <a:t>RQ2: VIDEO GIỚI THIỆU CÓ ẢNH HƯỞNG ĐẾN DOANH SỐ SẢN PHẨM KHÔNG?</a:t>
            </a:r>
          </a:p>
        </p:txBody>
      </p:sp>
      <p:sp>
        <p:nvSpPr>
          <p:cNvPr name="TextBox 7" id="7"/>
          <p:cNvSpPr txBox="true"/>
          <p:nvPr/>
        </p:nvSpPr>
        <p:spPr>
          <a:xfrm rot="0">
            <a:off x="0" y="1362883"/>
            <a:ext cx="9144000" cy="547371"/>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Methods</a:t>
            </a:r>
            <a:r>
              <a:rPr lang="en-US" b="true" sz="3199">
                <a:solidFill>
                  <a:srgbClr val="000000"/>
                </a:solidFill>
                <a:latin typeface="Public Sans Bold"/>
                <a:ea typeface="Public Sans Bold"/>
                <a:cs typeface="Public Sans Bold"/>
                <a:sym typeface="Public Sans Bold"/>
              </a:rPr>
              <a:t> 1: So sánh trung bình giữa hai nhóm</a:t>
            </a:r>
          </a:p>
        </p:txBody>
      </p:sp>
      <p:sp>
        <p:nvSpPr>
          <p:cNvPr name="TextBox 8" id="8"/>
          <p:cNvSpPr txBox="true"/>
          <p:nvPr/>
        </p:nvSpPr>
        <p:spPr>
          <a:xfrm rot="0">
            <a:off x="190214" y="2243629"/>
            <a:ext cx="17025005" cy="514351"/>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Public Sans"/>
                <a:ea typeface="Public Sans"/>
                <a:cs typeface="Public Sans"/>
                <a:sym typeface="Public Sans"/>
              </a:rPr>
              <a:t>Tính lượng bán trung bình của nhóm có video và không có video  để quan sát sự khác biệt ban đầu</a:t>
            </a:r>
          </a:p>
        </p:txBody>
      </p:sp>
      <p:sp>
        <p:nvSpPr>
          <p:cNvPr name="TextBox 9" id="9"/>
          <p:cNvSpPr txBox="true"/>
          <p:nvPr/>
        </p:nvSpPr>
        <p:spPr>
          <a:xfrm rot="0">
            <a:off x="159704" y="3491404"/>
            <a:ext cx="1855990" cy="547370"/>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Results :</a:t>
            </a:r>
          </a:p>
        </p:txBody>
      </p:sp>
      <p:sp>
        <p:nvSpPr>
          <p:cNvPr name="TextBox 10" id="10"/>
          <p:cNvSpPr txBox="true"/>
          <p:nvPr/>
        </p:nvSpPr>
        <p:spPr>
          <a:xfrm rot="0">
            <a:off x="190214" y="5907747"/>
            <a:ext cx="2635825" cy="547371"/>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C</a:t>
            </a:r>
            <a:r>
              <a:rPr lang="en-US" b="true" sz="3199">
                <a:solidFill>
                  <a:srgbClr val="000000"/>
                </a:solidFill>
                <a:latin typeface="Public Sans Bold"/>
                <a:ea typeface="Public Sans Bold"/>
                <a:cs typeface="Public Sans Bold"/>
                <a:sym typeface="Public Sans Bold"/>
              </a:rPr>
              <a:t>onclusion :</a:t>
            </a:r>
          </a:p>
        </p:txBody>
      </p:sp>
      <p:sp>
        <p:nvSpPr>
          <p:cNvPr name="TextBox 11" id="11"/>
          <p:cNvSpPr txBox="true"/>
          <p:nvPr/>
        </p:nvSpPr>
        <p:spPr>
          <a:xfrm rot="0">
            <a:off x="324664" y="6611094"/>
            <a:ext cx="8037765" cy="3658236"/>
          </a:xfrm>
          <a:prstGeom prst="rect">
            <a:avLst/>
          </a:prstGeom>
        </p:spPr>
        <p:txBody>
          <a:bodyPr anchor="t" rtlCol="false" tIns="0" lIns="0" bIns="0" rIns="0">
            <a:spAutoFit/>
          </a:bodyPr>
          <a:lstStyle/>
          <a:p>
            <a:pPr algn="l" marL="561336" indent="-280668" lvl="1">
              <a:lnSpc>
                <a:spcPts val="3639"/>
              </a:lnSpc>
              <a:buFont typeface="Arial"/>
              <a:buChar char="•"/>
            </a:pPr>
            <a:r>
              <a:rPr lang="en-US" sz="2599">
                <a:solidFill>
                  <a:srgbClr val="000000"/>
                </a:solidFill>
                <a:latin typeface="Public Sans"/>
                <a:ea typeface="Public Sans"/>
                <a:cs typeface="Public Sans"/>
                <a:sym typeface="Public Sans"/>
              </a:rPr>
              <a:t> Nhóm có vide</a:t>
            </a:r>
            <a:r>
              <a:rPr lang="en-US" sz="2599">
                <a:solidFill>
                  <a:srgbClr val="000000"/>
                </a:solidFill>
                <a:latin typeface="Public Sans"/>
                <a:ea typeface="Public Sans"/>
                <a:cs typeface="Public Sans"/>
                <a:sym typeface="Public Sans"/>
              </a:rPr>
              <a:t>o có lượng bán trung bình cao hơn</a:t>
            </a:r>
          </a:p>
          <a:p>
            <a:pPr algn="l" marL="561336" indent="-280668" lvl="1">
              <a:lnSpc>
                <a:spcPts val="3639"/>
              </a:lnSpc>
              <a:buFont typeface="Arial"/>
              <a:buChar char="•"/>
            </a:pPr>
            <a:r>
              <a:rPr lang="en-US" sz="2599">
                <a:solidFill>
                  <a:srgbClr val="000000"/>
                </a:solidFill>
                <a:latin typeface="Public Sans"/>
                <a:ea typeface="Public Sans"/>
                <a:cs typeface="Public Sans"/>
                <a:sym typeface="Public Sans"/>
              </a:rPr>
              <a:t> Nhóm có video có nhiều review hơn</a:t>
            </a:r>
          </a:p>
          <a:p>
            <a:pPr algn="l" marL="561336" indent="-280668" lvl="1">
              <a:lnSpc>
                <a:spcPts val="3639"/>
              </a:lnSpc>
              <a:buFont typeface="Arial"/>
              <a:buChar char="•"/>
            </a:pPr>
            <a:r>
              <a:rPr lang="en-US" sz="2599">
                <a:solidFill>
                  <a:srgbClr val="000000"/>
                </a:solidFill>
                <a:latin typeface="Public Sans"/>
                <a:ea typeface="Public Sans"/>
                <a:cs typeface="Public Sans"/>
                <a:sym typeface="Public Sans"/>
              </a:rPr>
              <a:t> Phân phối doanh số của nhóm có video dịch </a:t>
            </a:r>
          </a:p>
          <a:p>
            <a:pPr algn="l">
              <a:lnSpc>
                <a:spcPts val="3639"/>
              </a:lnSpc>
            </a:pPr>
            <a:r>
              <a:rPr lang="en-US" sz="2599">
                <a:solidFill>
                  <a:srgbClr val="000000"/>
                </a:solidFill>
                <a:latin typeface="Public Sans"/>
                <a:ea typeface="Public Sans"/>
                <a:cs typeface="Public Sans"/>
                <a:sym typeface="Public Sans"/>
              </a:rPr>
              <a:t>chuyển sang bên phải</a:t>
            </a:r>
          </a:p>
          <a:p>
            <a:pPr algn="l">
              <a:lnSpc>
                <a:spcPts val="3639"/>
              </a:lnSpc>
            </a:pPr>
            <a:r>
              <a:rPr lang="en-US" sz="2599">
                <a:solidFill>
                  <a:srgbClr val="000000"/>
                </a:solidFill>
                <a:latin typeface="Public Sans"/>
                <a:ea typeface="Public Sans"/>
                <a:cs typeface="Public Sans"/>
                <a:sym typeface="Public Sans"/>
              </a:rPr>
              <a:t>          Sự khác biệt giữa hai nhóm sản phẩm , tuy nhiên cần thống kê để xác định xem sự khác biệt đó có thực sự đáng kể hay chỉ xuất hiện do ngẫu nhiên</a:t>
            </a:r>
          </a:p>
          <a:p>
            <a:pPr algn="l">
              <a:lnSpc>
                <a:spcPts val="3639"/>
              </a:lnSpc>
            </a:pPr>
          </a:p>
        </p:txBody>
      </p:sp>
      <p:sp>
        <p:nvSpPr>
          <p:cNvPr name="Freeform 12" id="12"/>
          <p:cNvSpPr/>
          <p:nvPr/>
        </p:nvSpPr>
        <p:spPr>
          <a:xfrm flipH="false" flipV="false" rot="0">
            <a:off x="215556" y="6855168"/>
            <a:ext cx="287343" cy="1162050"/>
          </a:xfrm>
          <a:custGeom>
            <a:avLst/>
            <a:gdLst/>
            <a:ahLst/>
            <a:cxnLst/>
            <a:rect r="r" b="b" t="t" l="l"/>
            <a:pathLst>
              <a:path h="1162050" w="287343">
                <a:moveTo>
                  <a:pt x="0" y="0"/>
                </a:moveTo>
                <a:lnTo>
                  <a:pt x="287343" y="0"/>
                </a:lnTo>
                <a:lnTo>
                  <a:pt x="287343" y="1162050"/>
                </a:lnTo>
                <a:lnTo>
                  <a:pt x="0" y="11620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020295" y="4792323"/>
            <a:ext cx="430499" cy="430499"/>
          </a:xfrm>
          <a:custGeom>
            <a:avLst/>
            <a:gdLst/>
            <a:ahLst/>
            <a:cxnLst/>
            <a:rect r="r" b="b" t="t" l="l"/>
            <a:pathLst>
              <a:path h="430499" w="430499">
                <a:moveTo>
                  <a:pt x="0" y="0"/>
                </a:moveTo>
                <a:lnTo>
                  <a:pt x="430499" y="0"/>
                </a:lnTo>
                <a:lnTo>
                  <a:pt x="430499" y="430499"/>
                </a:lnTo>
                <a:lnTo>
                  <a:pt x="0" y="4304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173585" y="1775828"/>
            <a:ext cx="9951724" cy="7482472"/>
          </a:xfrm>
          <a:custGeom>
            <a:avLst/>
            <a:gdLst/>
            <a:ahLst/>
            <a:cxnLst/>
            <a:rect r="r" b="b" t="t" l="l"/>
            <a:pathLst>
              <a:path h="7482472" w="9951724">
                <a:moveTo>
                  <a:pt x="0" y="0"/>
                </a:moveTo>
                <a:lnTo>
                  <a:pt x="9951724" y="0"/>
                </a:lnTo>
                <a:lnTo>
                  <a:pt x="9951724" y="7482472"/>
                </a:lnTo>
                <a:lnTo>
                  <a:pt x="0" y="7482472"/>
                </a:lnTo>
                <a:lnTo>
                  <a:pt x="0" y="0"/>
                </a:lnTo>
                <a:close/>
              </a:path>
            </a:pathLst>
          </a:custGeom>
          <a:blipFill>
            <a:blip r:embed="rId4"/>
            <a:stretch>
              <a:fillRect l="-555" t="-322" r="-555" b="-367"/>
            </a:stretch>
          </a:blipFill>
        </p:spPr>
      </p:sp>
      <p:sp>
        <p:nvSpPr>
          <p:cNvPr name="Freeform 4" id="4"/>
          <p:cNvSpPr/>
          <p:nvPr/>
        </p:nvSpPr>
        <p:spPr>
          <a:xfrm flipH="false" flipV="false" rot="5400000">
            <a:off x="2551162" y="3978486"/>
            <a:ext cx="873981" cy="247893"/>
          </a:xfrm>
          <a:custGeom>
            <a:avLst/>
            <a:gdLst/>
            <a:ahLst/>
            <a:cxnLst/>
            <a:rect r="r" b="b" t="t" l="l"/>
            <a:pathLst>
              <a:path h="247893" w="873981">
                <a:moveTo>
                  <a:pt x="0" y="0"/>
                </a:moveTo>
                <a:lnTo>
                  <a:pt x="873980" y="0"/>
                </a:lnTo>
                <a:lnTo>
                  <a:pt x="873980" y="247892"/>
                </a:lnTo>
                <a:lnTo>
                  <a:pt x="0" y="2478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964111">
            <a:off x="13094614" y="8944958"/>
            <a:ext cx="938944" cy="308998"/>
          </a:xfrm>
          <a:custGeom>
            <a:avLst/>
            <a:gdLst/>
            <a:ahLst/>
            <a:cxnLst/>
            <a:rect r="r" b="b" t="t" l="l"/>
            <a:pathLst>
              <a:path h="308998" w="938944">
                <a:moveTo>
                  <a:pt x="0" y="0"/>
                </a:moveTo>
                <a:lnTo>
                  <a:pt x="938944" y="0"/>
                </a:lnTo>
                <a:lnTo>
                  <a:pt x="938944" y="308999"/>
                </a:lnTo>
                <a:lnTo>
                  <a:pt x="0" y="30899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234295" y="129172"/>
            <a:ext cx="15300759" cy="784340"/>
          </a:xfrm>
          <a:prstGeom prst="rect">
            <a:avLst/>
          </a:prstGeom>
        </p:spPr>
        <p:txBody>
          <a:bodyPr anchor="t" rtlCol="false" tIns="0" lIns="0" bIns="0" rIns="0">
            <a:spAutoFit/>
          </a:bodyPr>
          <a:lstStyle/>
          <a:p>
            <a:pPr algn="l">
              <a:lnSpc>
                <a:spcPts val="6573"/>
              </a:lnSpc>
            </a:pPr>
            <a:r>
              <a:rPr lang="en-US" sz="4186">
                <a:solidFill>
                  <a:srgbClr val="000000"/>
                </a:solidFill>
                <a:latin typeface="Anton"/>
                <a:ea typeface="Anton"/>
                <a:cs typeface="Anton"/>
                <a:sym typeface="Anton"/>
              </a:rPr>
              <a:t>RQ2: VIDEO GIỚI THIỆU CÓ ẢNH HƯỞNG ĐẾN DOANH SỐ SẢN PHẨM KHÔNG?</a:t>
            </a:r>
          </a:p>
        </p:txBody>
      </p:sp>
      <p:sp>
        <p:nvSpPr>
          <p:cNvPr name="TextBox 7" id="7"/>
          <p:cNvSpPr txBox="true"/>
          <p:nvPr/>
        </p:nvSpPr>
        <p:spPr>
          <a:xfrm rot="0">
            <a:off x="76480" y="1481171"/>
            <a:ext cx="5823345" cy="547371"/>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Methods</a:t>
            </a:r>
            <a:r>
              <a:rPr lang="en-US" b="true" sz="3199">
                <a:solidFill>
                  <a:srgbClr val="000000"/>
                </a:solidFill>
                <a:latin typeface="Public Sans Bold"/>
                <a:ea typeface="Public Sans Bold"/>
                <a:cs typeface="Public Sans Bold"/>
                <a:sym typeface="Public Sans Bold"/>
              </a:rPr>
              <a:t> 2: Permutation Test </a:t>
            </a:r>
          </a:p>
        </p:txBody>
      </p:sp>
      <p:sp>
        <p:nvSpPr>
          <p:cNvPr name="TextBox 8" id="8"/>
          <p:cNvSpPr txBox="true"/>
          <p:nvPr/>
        </p:nvSpPr>
        <p:spPr>
          <a:xfrm rot="0">
            <a:off x="234295" y="2578151"/>
            <a:ext cx="6647575" cy="834390"/>
          </a:xfrm>
          <a:prstGeom prst="rect">
            <a:avLst/>
          </a:prstGeom>
        </p:spPr>
        <p:txBody>
          <a:bodyPr anchor="t" rtlCol="false" tIns="0" lIns="0" bIns="0" rIns="0">
            <a:spAutoFit/>
          </a:bodyPr>
          <a:lstStyle/>
          <a:p>
            <a:pPr algn="l">
              <a:lnSpc>
                <a:spcPts val="3359"/>
              </a:lnSpc>
            </a:pPr>
            <a:r>
              <a:rPr lang="en-US" sz="2399">
                <a:solidFill>
                  <a:srgbClr val="000000"/>
                </a:solidFill>
                <a:latin typeface="Public Sans"/>
                <a:ea typeface="Public Sans"/>
                <a:cs typeface="Public Sans"/>
                <a:sym typeface="Public Sans"/>
              </a:rPr>
              <a:t>H0: Video không ảnh hưởng đến lượng bán</a:t>
            </a:r>
          </a:p>
          <a:p>
            <a:pPr algn="l">
              <a:lnSpc>
                <a:spcPts val="3359"/>
              </a:lnSpc>
              <a:spcBef>
                <a:spcPct val="0"/>
              </a:spcBef>
            </a:pPr>
            <a:r>
              <a:rPr lang="en-US" sz="2399">
                <a:solidFill>
                  <a:srgbClr val="000000"/>
                </a:solidFill>
                <a:latin typeface="Public Sans"/>
                <a:ea typeface="Public Sans"/>
                <a:cs typeface="Public Sans"/>
                <a:sym typeface="Public Sans"/>
              </a:rPr>
              <a:t>H1: Video ảnh hưởng đến lượng bán</a:t>
            </a:r>
          </a:p>
        </p:txBody>
      </p:sp>
      <p:sp>
        <p:nvSpPr>
          <p:cNvPr name="TextBox 9" id="9"/>
          <p:cNvSpPr txBox="true"/>
          <p:nvPr/>
        </p:nvSpPr>
        <p:spPr>
          <a:xfrm rot="0">
            <a:off x="7860071" y="1481171"/>
            <a:ext cx="1855990" cy="547370"/>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Results :</a:t>
            </a:r>
          </a:p>
        </p:txBody>
      </p:sp>
      <p:sp>
        <p:nvSpPr>
          <p:cNvPr name="TextBox 10" id="10"/>
          <p:cNvSpPr txBox="true"/>
          <p:nvPr/>
        </p:nvSpPr>
        <p:spPr>
          <a:xfrm rot="0">
            <a:off x="234295" y="7113074"/>
            <a:ext cx="2503935" cy="547371"/>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C</a:t>
            </a:r>
            <a:r>
              <a:rPr lang="en-US" b="true" sz="3199">
                <a:solidFill>
                  <a:srgbClr val="000000"/>
                </a:solidFill>
                <a:latin typeface="Public Sans Bold"/>
                <a:ea typeface="Public Sans Bold"/>
                <a:cs typeface="Public Sans Bold"/>
                <a:sym typeface="Public Sans Bold"/>
              </a:rPr>
              <a:t>onclusion :</a:t>
            </a:r>
          </a:p>
        </p:txBody>
      </p:sp>
      <p:sp>
        <p:nvSpPr>
          <p:cNvPr name="TextBox 11" id="11"/>
          <p:cNvSpPr txBox="true"/>
          <p:nvPr/>
        </p:nvSpPr>
        <p:spPr>
          <a:xfrm rot="0">
            <a:off x="234295" y="7956181"/>
            <a:ext cx="6967037" cy="1672590"/>
          </a:xfrm>
          <a:prstGeom prst="rect">
            <a:avLst/>
          </a:prstGeom>
        </p:spPr>
        <p:txBody>
          <a:bodyPr anchor="t" rtlCol="false" tIns="0" lIns="0" bIns="0" rIns="0">
            <a:spAutoFit/>
          </a:bodyPr>
          <a:lstStyle/>
          <a:p>
            <a:pPr algn="just">
              <a:lnSpc>
                <a:spcPts val="3359"/>
              </a:lnSpc>
              <a:spcBef>
                <a:spcPct val="0"/>
              </a:spcBef>
            </a:pPr>
            <a:r>
              <a:rPr lang="en-US" sz="2399">
                <a:solidFill>
                  <a:srgbClr val="000000"/>
                </a:solidFill>
                <a:latin typeface="Public Sans"/>
                <a:ea typeface="Public Sans"/>
                <a:cs typeface="Public Sans"/>
                <a:sym typeface="Public Sans"/>
              </a:rPr>
              <a:t>Bác bỏ</a:t>
            </a:r>
            <a:r>
              <a:rPr lang="en-US" sz="2399">
                <a:solidFill>
                  <a:srgbClr val="000000"/>
                </a:solidFill>
                <a:latin typeface="Public Sans"/>
                <a:ea typeface="Public Sans"/>
                <a:cs typeface="Public Sans"/>
                <a:sym typeface="Public Sans"/>
              </a:rPr>
              <a:t> giả thuyết không. Nói cách khác, có bằng chứng thống kê cho thấy sản phẩm có video và sản phẩm không có video có sự khác biệt về lượng bán</a:t>
            </a:r>
          </a:p>
        </p:txBody>
      </p:sp>
      <p:sp>
        <p:nvSpPr>
          <p:cNvPr name="TextBox 12" id="12"/>
          <p:cNvSpPr txBox="true"/>
          <p:nvPr/>
        </p:nvSpPr>
        <p:spPr>
          <a:xfrm rot="0">
            <a:off x="234295" y="4735173"/>
            <a:ext cx="5779264" cy="2091690"/>
          </a:xfrm>
          <a:prstGeom prst="rect">
            <a:avLst/>
          </a:prstGeom>
        </p:spPr>
        <p:txBody>
          <a:bodyPr anchor="t" rtlCol="false" tIns="0" lIns="0" bIns="0" rIns="0">
            <a:spAutoFit/>
          </a:bodyPr>
          <a:lstStyle/>
          <a:p>
            <a:pPr algn="l">
              <a:lnSpc>
                <a:spcPts val="3359"/>
              </a:lnSpc>
            </a:pPr>
            <a:r>
              <a:rPr lang="en-US" sz="2399">
                <a:solidFill>
                  <a:srgbClr val="000000"/>
                </a:solidFill>
                <a:latin typeface="Public Sans"/>
                <a:ea typeface="Public Sans"/>
                <a:cs typeface="Public Sans"/>
                <a:sym typeface="Public Sans"/>
              </a:rPr>
              <a:t>Tiến hành hoán đổ</a:t>
            </a:r>
            <a:r>
              <a:rPr lang="en-US" sz="2399">
                <a:solidFill>
                  <a:srgbClr val="000000"/>
                </a:solidFill>
                <a:latin typeface="Public Sans"/>
                <a:ea typeface="Public Sans"/>
                <a:cs typeface="Public Sans"/>
                <a:sym typeface="Public Sans"/>
              </a:rPr>
              <a:t>i nhãn nhiều lần, tính lại chênh lệch trung bình sau mỗi lần hoán đổi và xây dựng phân phối giả lập. Sau đó so sánh chênh lệch thực tế với phân phối này để tính p-value</a:t>
            </a:r>
          </a:p>
        </p:txBody>
      </p:sp>
      <p:sp>
        <p:nvSpPr>
          <p:cNvPr name="TextBox 13" id="13"/>
          <p:cNvSpPr txBox="true"/>
          <p:nvPr/>
        </p:nvSpPr>
        <p:spPr>
          <a:xfrm rot="0">
            <a:off x="14300335" y="8782951"/>
            <a:ext cx="2469440" cy="815516"/>
          </a:xfrm>
          <a:prstGeom prst="rect">
            <a:avLst/>
          </a:prstGeom>
        </p:spPr>
        <p:txBody>
          <a:bodyPr anchor="t" rtlCol="false" tIns="0" lIns="0" bIns="0" rIns="0">
            <a:spAutoFit/>
          </a:bodyPr>
          <a:lstStyle/>
          <a:p>
            <a:pPr algn="ctr">
              <a:lnSpc>
                <a:spcPts val="3350"/>
              </a:lnSpc>
            </a:pPr>
            <a:r>
              <a:rPr lang="en-US" sz="2393" b="true">
                <a:solidFill>
                  <a:srgbClr val="000000"/>
                </a:solidFill>
                <a:latin typeface="Noto Sans Bold"/>
                <a:ea typeface="Noto Sans Bold"/>
                <a:cs typeface="Noto Sans Bold"/>
                <a:sym typeface="Noto Sans Bold"/>
              </a:rPr>
              <a:t>p-value &lt; 0.05</a:t>
            </a:r>
          </a:p>
          <a:p>
            <a:pPr algn="ctr">
              <a:lnSpc>
                <a:spcPts val="3350"/>
              </a:lnSpc>
            </a:pPr>
            <a:r>
              <a:rPr lang="en-US" sz="2393" b="true">
                <a:solidFill>
                  <a:srgbClr val="000000"/>
                </a:solidFill>
                <a:latin typeface="Public Sans Bold"/>
                <a:ea typeface="Public Sans Bold"/>
                <a:cs typeface="Public Sans Bold"/>
                <a:sym typeface="Public Sans Bold"/>
              </a:rPr>
              <a:t>⇒ </a:t>
            </a:r>
            <a:r>
              <a:rPr lang="en-US" sz="2393" b="true">
                <a:solidFill>
                  <a:srgbClr val="000000"/>
                </a:solidFill>
                <a:latin typeface="Public Sans Bold"/>
                <a:ea typeface="Public Sans Bold"/>
                <a:cs typeface="Public Sans Bold"/>
                <a:sym typeface="Public Sans Bold"/>
              </a:rPr>
              <a:t>Bác bỏ H0</a:t>
            </a:r>
          </a:p>
        </p:txBody>
      </p:sp>
      <p:sp>
        <p:nvSpPr>
          <p:cNvPr name="Freeform 14" id="14"/>
          <p:cNvSpPr/>
          <p:nvPr/>
        </p:nvSpPr>
        <p:spPr>
          <a:xfrm flipH="false" flipV="false" rot="0">
            <a:off x="16392470" y="281572"/>
            <a:ext cx="1613958" cy="1613958"/>
          </a:xfrm>
          <a:custGeom>
            <a:avLst/>
            <a:gdLst/>
            <a:ahLst/>
            <a:cxnLst/>
            <a:rect r="r" b="b" t="t" l="l"/>
            <a:pathLst>
              <a:path h="1613958" w="1613958">
                <a:moveTo>
                  <a:pt x="0" y="0"/>
                </a:moveTo>
                <a:lnTo>
                  <a:pt x="1613958" y="0"/>
                </a:lnTo>
                <a:lnTo>
                  <a:pt x="1613958" y="1613958"/>
                </a:lnTo>
                <a:lnTo>
                  <a:pt x="0" y="1613958"/>
                </a:lnTo>
                <a:lnTo>
                  <a:pt x="0" y="0"/>
                </a:lnTo>
                <a:close/>
              </a:path>
            </a:pathLst>
          </a:custGeom>
          <a:blipFill>
            <a:blip r:embed="rId9">
              <a:alphaModFix amt="20999"/>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4F3"/>
        </a:solidFill>
      </p:bgPr>
    </p:bg>
    <p:spTree>
      <p:nvGrpSpPr>
        <p:cNvPr id="1" name=""/>
        <p:cNvGrpSpPr/>
        <p:nvPr/>
      </p:nvGrpSpPr>
      <p:grpSpPr>
        <a:xfrm>
          <a:off x="0" y="0"/>
          <a:ext cx="0" cy="0"/>
          <a:chOff x="0" y="0"/>
          <a:chExt cx="0" cy="0"/>
        </a:xfrm>
      </p:grpSpPr>
      <p:sp>
        <p:nvSpPr>
          <p:cNvPr name="Freeform 2" id="2"/>
          <p:cNvSpPr/>
          <p:nvPr/>
        </p:nvSpPr>
        <p:spPr>
          <a:xfrm flipH="false" flipV="false" rot="0">
            <a:off x="16392821" y="257425"/>
            <a:ext cx="1554891" cy="1554891"/>
          </a:xfrm>
          <a:custGeom>
            <a:avLst/>
            <a:gdLst/>
            <a:ahLst/>
            <a:cxnLst/>
            <a:rect r="r" b="b" t="t" l="l"/>
            <a:pathLst>
              <a:path h="1554891" w="1554891">
                <a:moveTo>
                  <a:pt x="0" y="0"/>
                </a:moveTo>
                <a:lnTo>
                  <a:pt x="1554891" y="0"/>
                </a:lnTo>
                <a:lnTo>
                  <a:pt x="1554891" y="1554891"/>
                </a:lnTo>
                <a:lnTo>
                  <a:pt x="0" y="1554891"/>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234295" y="3797440"/>
            <a:ext cx="9321066" cy="6349976"/>
          </a:xfrm>
          <a:custGeom>
            <a:avLst/>
            <a:gdLst/>
            <a:ahLst/>
            <a:cxnLst/>
            <a:rect r="r" b="b" t="t" l="l"/>
            <a:pathLst>
              <a:path h="6349976" w="9321066">
                <a:moveTo>
                  <a:pt x="0" y="0"/>
                </a:moveTo>
                <a:lnTo>
                  <a:pt x="9321066" y="0"/>
                </a:lnTo>
                <a:lnTo>
                  <a:pt x="9321066" y="6349976"/>
                </a:lnTo>
                <a:lnTo>
                  <a:pt x="0" y="6349976"/>
                </a:lnTo>
                <a:lnTo>
                  <a:pt x="0" y="0"/>
                </a:lnTo>
                <a:close/>
              </a:path>
            </a:pathLst>
          </a:custGeom>
          <a:blipFill>
            <a:blip r:embed="rId3"/>
            <a:stretch>
              <a:fillRect l="0" t="0" r="0" b="0"/>
            </a:stretch>
          </a:blipFill>
        </p:spPr>
      </p:sp>
      <p:sp>
        <p:nvSpPr>
          <p:cNvPr name="TextBox 4" id="4"/>
          <p:cNvSpPr txBox="true"/>
          <p:nvPr/>
        </p:nvSpPr>
        <p:spPr>
          <a:xfrm rot="0">
            <a:off x="234295" y="178053"/>
            <a:ext cx="15660538" cy="783717"/>
          </a:xfrm>
          <a:prstGeom prst="rect">
            <a:avLst/>
          </a:prstGeom>
        </p:spPr>
        <p:txBody>
          <a:bodyPr anchor="t" rtlCol="false" tIns="0" lIns="0" bIns="0" rIns="0">
            <a:spAutoFit/>
          </a:bodyPr>
          <a:lstStyle/>
          <a:p>
            <a:pPr algn="l">
              <a:lnSpc>
                <a:spcPts val="6593"/>
              </a:lnSpc>
            </a:pPr>
            <a:r>
              <a:rPr lang="en-US" sz="4199">
                <a:solidFill>
                  <a:srgbClr val="000000"/>
                </a:solidFill>
                <a:latin typeface="Anton"/>
                <a:ea typeface="Anton"/>
                <a:cs typeface="Anton"/>
                <a:sym typeface="Anton"/>
              </a:rPr>
              <a:t>RQ2: VIDEO GIỚI THIỆU CÓ ẢNH HƯỞNG ĐẾN DOANH SỐ SẢN PHẨM KHÔNG?</a:t>
            </a:r>
          </a:p>
        </p:txBody>
      </p:sp>
      <p:sp>
        <p:nvSpPr>
          <p:cNvPr name="TextBox 5" id="5"/>
          <p:cNvSpPr txBox="true"/>
          <p:nvPr/>
        </p:nvSpPr>
        <p:spPr>
          <a:xfrm rot="0">
            <a:off x="0" y="1362883"/>
            <a:ext cx="8362428" cy="547371"/>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Methods</a:t>
            </a:r>
            <a:r>
              <a:rPr lang="en-US" b="true" sz="3199">
                <a:solidFill>
                  <a:srgbClr val="000000"/>
                </a:solidFill>
                <a:latin typeface="Public Sans Bold"/>
                <a:ea typeface="Public Sans Bold"/>
                <a:cs typeface="Public Sans Bold"/>
                <a:sym typeface="Public Sans Bold"/>
              </a:rPr>
              <a:t> 3: Bootstrap Confidence Interval</a:t>
            </a:r>
          </a:p>
        </p:txBody>
      </p:sp>
      <p:sp>
        <p:nvSpPr>
          <p:cNvPr name="TextBox 6" id="6"/>
          <p:cNvSpPr txBox="true"/>
          <p:nvPr/>
        </p:nvSpPr>
        <p:spPr>
          <a:xfrm rot="0">
            <a:off x="234295" y="1957879"/>
            <a:ext cx="15660538" cy="103822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Public Sans"/>
                <a:ea typeface="Public Sans"/>
                <a:cs typeface="Public Sans"/>
                <a:sym typeface="Public Sans"/>
              </a:rPr>
              <a:t>Bootstrap hoạt động bằng cách lấy mẫu lại có hoàn lại nhiều lần từ dữ liệu gốc và tính chênh lệch trung bình cho mỗi lần lấy mẫu. </a:t>
            </a:r>
          </a:p>
        </p:txBody>
      </p:sp>
      <p:sp>
        <p:nvSpPr>
          <p:cNvPr name="TextBox 7" id="7"/>
          <p:cNvSpPr txBox="true"/>
          <p:nvPr/>
        </p:nvSpPr>
        <p:spPr>
          <a:xfrm rot="0">
            <a:off x="159704" y="3091354"/>
            <a:ext cx="1981442" cy="547370"/>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Results :</a:t>
            </a:r>
          </a:p>
        </p:txBody>
      </p:sp>
      <p:sp>
        <p:nvSpPr>
          <p:cNvPr name="TextBox 8" id="8"/>
          <p:cNvSpPr txBox="true"/>
          <p:nvPr/>
        </p:nvSpPr>
        <p:spPr>
          <a:xfrm rot="0">
            <a:off x="9909379" y="2929429"/>
            <a:ext cx="2497265" cy="547371"/>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C</a:t>
            </a:r>
            <a:r>
              <a:rPr lang="en-US" b="true" sz="3199">
                <a:solidFill>
                  <a:srgbClr val="000000"/>
                </a:solidFill>
                <a:latin typeface="Public Sans Bold"/>
                <a:ea typeface="Public Sans Bold"/>
                <a:cs typeface="Public Sans Bold"/>
                <a:sym typeface="Public Sans Bold"/>
              </a:rPr>
              <a:t>onclusion :</a:t>
            </a:r>
          </a:p>
        </p:txBody>
      </p:sp>
      <p:sp>
        <p:nvSpPr>
          <p:cNvPr name="TextBox 9" id="9"/>
          <p:cNvSpPr txBox="true"/>
          <p:nvPr/>
        </p:nvSpPr>
        <p:spPr>
          <a:xfrm rot="0">
            <a:off x="9882895" y="3572049"/>
            <a:ext cx="8128945" cy="1038225"/>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Public Sans"/>
                <a:ea typeface="Public Sans"/>
                <a:cs typeface="Public Sans"/>
                <a:sym typeface="Public Sans"/>
              </a:rPr>
              <a:t>Kết</a:t>
            </a:r>
            <a:r>
              <a:rPr lang="en-US" sz="2999">
                <a:solidFill>
                  <a:srgbClr val="000000"/>
                </a:solidFill>
                <a:latin typeface="Public Sans"/>
                <a:ea typeface="Public Sans"/>
                <a:cs typeface="Public Sans"/>
                <a:sym typeface="Public Sans"/>
              </a:rPr>
              <a:t> quả Bootstrap củng cố thêm kết luận từ Permutation Test</a:t>
            </a:r>
          </a:p>
        </p:txBody>
      </p:sp>
      <p:sp>
        <p:nvSpPr>
          <p:cNvPr name="TextBox 10" id="10"/>
          <p:cNvSpPr txBox="true"/>
          <p:nvPr/>
        </p:nvSpPr>
        <p:spPr>
          <a:xfrm rot="0">
            <a:off x="9863659" y="4813863"/>
            <a:ext cx="1623766" cy="547371"/>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Overall:</a:t>
            </a:r>
          </a:p>
        </p:txBody>
      </p:sp>
      <p:sp>
        <p:nvSpPr>
          <p:cNvPr name="TextBox 11" id="11"/>
          <p:cNvSpPr txBox="true"/>
          <p:nvPr/>
        </p:nvSpPr>
        <p:spPr>
          <a:xfrm rot="0">
            <a:off x="9764827" y="5561259"/>
            <a:ext cx="8182885" cy="4453255"/>
          </a:xfrm>
          <a:prstGeom prst="rect">
            <a:avLst/>
          </a:prstGeom>
        </p:spPr>
        <p:txBody>
          <a:bodyPr anchor="t" rtlCol="false" tIns="0" lIns="0" bIns="0" rIns="0">
            <a:spAutoFit/>
          </a:bodyPr>
          <a:lstStyle/>
          <a:p>
            <a:pPr algn="l" marL="604523" indent="-302261" lvl="1">
              <a:lnSpc>
                <a:spcPts val="3920"/>
              </a:lnSpc>
              <a:buFont typeface="Arial"/>
              <a:buChar char="•"/>
            </a:pPr>
            <a:r>
              <a:rPr lang="en-US" b="true" sz="2800" i="true">
                <a:solidFill>
                  <a:srgbClr val="000000"/>
                </a:solidFill>
                <a:latin typeface="Public Sans Bold Italics"/>
                <a:ea typeface="Public Sans Bold Italics"/>
                <a:cs typeface="Public Sans Bold Italics"/>
                <a:sym typeface="Public Sans Bold Italics"/>
              </a:rPr>
              <a:t> Sản</a:t>
            </a:r>
            <a:r>
              <a:rPr lang="en-US" b="true" sz="2800" i="true">
                <a:solidFill>
                  <a:srgbClr val="000000"/>
                </a:solidFill>
                <a:latin typeface="Public Sans Bold Italics"/>
                <a:ea typeface="Public Sans Bold Italics"/>
                <a:cs typeface="Public Sans Bold Italics"/>
                <a:sym typeface="Public Sans Bold Italics"/>
              </a:rPr>
              <a:t> phẩm có video có lượng bán trung bình cao hơn sản phẩm không có video</a:t>
            </a:r>
          </a:p>
          <a:p>
            <a:pPr algn="l" marL="604523" indent="-302261" lvl="1">
              <a:lnSpc>
                <a:spcPts val="3920"/>
              </a:lnSpc>
              <a:buFont typeface="Arial"/>
              <a:buChar char="•"/>
            </a:pPr>
            <a:r>
              <a:rPr lang="en-US" b="true" sz="2800" i="true">
                <a:solidFill>
                  <a:srgbClr val="000000"/>
                </a:solidFill>
                <a:latin typeface="Public Sans Bold Italics"/>
                <a:ea typeface="Public Sans Bold Italics"/>
                <a:cs typeface="Public Sans Bold Italics"/>
                <a:sym typeface="Public Sans Bold Italics"/>
              </a:rPr>
              <a:t> Sự khác biệt này có ý nghĩa thống kê theo kết quả của Permutation Test</a:t>
            </a:r>
          </a:p>
          <a:p>
            <a:pPr algn="l" marL="604523" indent="-302261" lvl="1">
              <a:lnSpc>
                <a:spcPts val="3920"/>
              </a:lnSpc>
              <a:buFont typeface="Arial"/>
              <a:buChar char="•"/>
            </a:pPr>
            <a:r>
              <a:rPr lang="en-US" b="true" sz="2800" i="true">
                <a:solidFill>
                  <a:srgbClr val="000000"/>
                </a:solidFill>
                <a:latin typeface="Public Sans Bold Italics"/>
                <a:ea typeface="Public Sans Bold Italics"/>
                <a:cs typeface="Public Sans Bold Italics"/>
                <a:sym typeface="Public Sans Bold Italics"/>
              </a:rPr>
              <a:t>Bootstrap Confidence Interval cho thấy kết quả ổn định và đáng tin cậy</a:t>
            </a:r>
          </a:p>
          <a:p>
            <a:pPr algn="l">
              <a:lnSpc>
                <a:spcPts val="3920"/>
              </a:lnSpc>
              <a:spcBef>
                <a:spcPct val="0"/>
              </a:spcBef>
            </a:pPr>
            <a:r>
              <a:rPr lang="en-US" b="true" sz="2800" i="true">
                <a:solidFill>
                  <a:srgbClr val="000000"/>
                </a:solidFill>
                <a:latin typeface="Public Sans Bold Italics"/>
                <a:ea typeface="Public Sans Bold Italics"/>
                <a:cs typeface="Public Sans Bold Italics"/>
                <a:sym typeface="Public Sans Bold Italics"/>
              </a:rPr>
              <a:t>Nhìn chung, video là một yếu tố tích cực có liên quan đến hiệu quả bán hàng trên sàn thương mại điện tử</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4F3"/>
        </a:solidFill>
      </p:bgPr>
    </p:bg>
    <p:spTree>
      <p:nvGrpSpPr>
        <p:cNvPr id="1" name=""/>
        <p:cNvGrpSpPr/>
        <p:nvPr/>
      </p:nvGrpSpPr>
      <p:grpSpPr>
        <a:xfrm>
          <a:off x="0" y="0"/>
          <a:ext cx="0" cy="0"/>
          <a:chOff x="0" y="0"/>
          <a:chExt cx="0" cy="0"/>
        </a:xfrm>
      </p:grpSpPr>
      <p:sp>
        <p:nvSpPr>
          <p:cNvPr name="Freeform 2" id="2"/>
          <p:cNvSpPr/>
          <p:nvPr/>
        </p:nvSpPr>
        <p:spPr>
          <a:xfrm flipH="false" flipV="false" rot="0">
            <a:off x="16635171" y="0"/>
            <a:ext cx="1652829" cy="1652829"/>
          </a:xfrm>
          <a:custGeom>
            <a:avLst/>
            <a:gdLst/>
            <a:ahLst/>
            <a:cxnLst/>
            <a:rect r="r" b="b" t="t" l="l"/>
            <a:pathLst>
              <a:path h="1652829" w="1652829">
                <a:moveTo>
                  <a:pt x="0" y="0"/>
                </a:moveTo>
                <a:lnTo>
                  <a:pt x="1652829" y="0"/>
                </a:lnTo>
                <a:lnTo>
                  <a:pt x="1652829" y="1652829"/>
                </a:lnTo>
                <a:lnTo>
                  <a:pt x="0" y="1652829"/>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234295" y="4883775"/>
            <a:ext cx="5065369" cy="4318227"/>
          </a:xfrm>
          <a:custGeom>
            <a:avLst/>
            <a:gdLst/>
            <a:ahLst/>
            <a:cxnLst/>
            <a:rect r="r" b="b" t="t" l="l"/>
            <a:pathLst>
              <a:path h="4318227" w="5065369">
                <a:moveTo>
                  <a:pt x="0" y="0"/>
                </a:moveTo>
                <a:lnTo>
                  <a:pt x="5065370" y="0"/>
                </a:lnTo>
                <a:lnTo>
                  <a:pt x="5065370" y="4318228"/>
                </a:lnTo>
                <a:lnTo>
                  <a:pt x="0" y="4318228"/>
                </a:lnTo>
                <a:lnTo>
                  <a:pt x="0" y="0"/>
                </a:lnTo>
                <a:close/>
              </a:path>
            </a:pathLst>
          </a:custGeom>
          <a:blipFill>
            <a:blip r:embed="rId3"/>
            <a:stretch>
              <a:fillRect l="0" t="0" r="0" b="0"/>
            </a:stretch>
          </a:blipFill>
        </p:spPr>
      </p:sp>
      <p:sp>
        <p:nvSpPr>
          <p:cNvPr name="Freeform 4" id="4"/>
          <p:cNvSpPr/>
          <p:nvPr/>
        </p:nvSpPr>
        <p:spPr>
          <a:xfrm flipH="false" flipV="false" rot="0">
            <a:off x="5299665" y="6527850"/>
            <a:ext cx="4219570" cy="2674153"/>
          </a:xfrm>
          <a:custGeom>
            <a:avLst/>
            <a:gdLst/>
            <a:ahLst/>
            <a:cxnLst/>
            <a:rect r="r" b="b" t="t" l="l"/>
            <a:pathLst>
              <a:path h="2674153" w="4219570">
                <a:moveTo>
                  <a:pt x="0" y="0"/>
                </a:moveTo>
                <a:lnTo>
                  <a:pt x="4219570" y="0"/>
                </a:lnTo>
                <a:lnTo>
                  <a:pt x="4219570" y="2674153"/>
                </a:lnTo>
                <a:lnTo>
                  <a:pt x="0" y="2674153"/>
                </a:lnTo>
                <a:lnTo>
                  <a:pt x="0" y="0"/>
                </a:lnTo>
                <a:close/>
              </a:path>
            </a:pathLst>
          </a:custGeom>
          <a:blipFill>
            <a:blip r:embed="rId4"/>
            <a:stretch>
              <a:fillRect l="0" t="0" r="0" b="0"/>
            </a:stretch>
          </a:blipFill>
        </p:spPr>
      </p:sp>
      <p:sp>
        <p:nvSpPr>
          <p:cNvPr name="Freeform 5" id="5"/>
          <p:cNvSpPr/>
          <p:nvPr/>
        </p:nvSpPr>
        <p:spPr>
          <a:xfrm flipH="false" flipV="false" rot="0">
            <a:off x="0" y="9745822"/>
            <a:ext cx="630354" cy="178791"/>
          </a:xfrm>
          <a:custGeom>
            <a:avLst/>
            <a:gdLst/>
            <a:ahLst/>
            <a:cxnLst/>
            <a:rect r="r" b="b" t="t" l="l"/>
            <a:pathLst>
              <a:path h="178791" w="630354">
                <a:moveTo>
                  <a:pt x="0" y="0"/>
                </a:moveTo>
                <a:lnTo>
                  <a:pt x="630354" y="0"/>
                </a:lnTo>
                <a:lnTo>
                  <a:pt x="630354" y="178791"/>
                </a:lnTo>
                <a:lnTo>
                  <a:pt x="0" y="1787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5400000">
            <a:off x="6125801" y="5438398"/>
            <a:ext cx="7315200" cy="159604"/>
          </a:xfrm>
          <a:custGeom>
            <a:avLst/>
            <a:gdLst/>
            <a:ahLst/>
            <a:cxnLst/>
            <a:rect r="r" b="b" t="t" l="l"/>
            <a:pathLst>
              <a:path h="159604" w="7315200">
                <a:moveTo>
                  <a:pt x="0" y="0"/>
                </a:moveTo>
                <a:lnTo>
                  <a:pt x="7315200" y="0"/>
                </a:lnTo>
                <a:lnTo>
                  <a:pt x="7315200" y="159604"/>
                </a:lnTo>
                <a:lnTo>
                  <a:pt x="0" y="15960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7" id="7"/>
          <p:cNvSpPr txBox="true"/>
          <p:nvPr/>
        </p:nvSpPr>
        <p:spPr>
          <a:xfrm rot="0">
            <a:off x="234295" y="178053"/>
            <a:ext cx="15660538" cy="783717"/>
          </a:xfrm>
          <a:prstGeom prst="rect">
            <a:avLst/>
          </a:prstGeom>
        </p:spPr>
        <p:txBody>
          <a:bodyPr anchor="t" rtlCol="false" tIns="0" lIns="0" bIns="0" rIns="0">
            <a:spAutoFit/>
          </a:bodyPr>
          <a:lstStyle/>
          <a:p>
            <a:pPr algn="l">
              <a:lnSpc>
                <a:spcPts val="6594"/>
              </a:lnSpc>
            </a:pPr>
            <a:r>
              <a:rPr lang="en-US" sz="4200">
                <a:solidFill>
                  <a:srgbClr val="000000"/>
                </a:solidFill>
                <a:latin typeface="Anton"/>
                <a:ea typeface="Anton"/>
                <a:cs typeface="Anton"/>
                <a:sym typeface="Anton"/>
              </a:rPr>
              <a:t>RQ3: NHỮNG ĐẶC TRƯNG NÀO LIÊN QUAN ĐẾN NHU CẦU SẢN PHẨM? </a:t>
            </a:r>
          </a:p>
        </p:txBody>
      </p:sp>
      <p:sp>
        <p:nvSpPr>
          <p:cNvPr name="TextBox 8" id="8"/>
          <p:cNvSpPr txBox="true"/>
          <p:nvPr/>
        </p:nvSpPr>
        <p:spPr>
          <a:xfrm rot="0">
            <a:off x="234295" y="1248399"/>
            <a:ext cx="7830269" cy="1671321"/>
          </a:xfrm>
          <a:prstGeom prst="rect">
            <a:avLst/>
          </a:prstGeom>
        </p:spPr>
        <p:txBody>
          <a:bodyPr anchor="t" rtlCol="false" tIns="0" lIns="0" bIns="0" rIns="0">
            <a:spAutoFit/>
          </a:bodyPr>
          <a:lstStyle/>
          <a:p>
            <a:pPr algn="l">
              <a:lnSpc>
                <a:spcPts val="4479"/>
              </a:lnSpc>
              <a:spcBef>
                <a:spcPct val="0"/>
              </a:spcBef>
            </a:pPr>
            <a:r>
              <a:rPr lang="en-US" b="true" sz="3199">
                <a:solidFill>
                  <a:srgbClr val="000000"/>
                </a:solidFill>
                <a:latin typeface="Public Sans Bold"/>
                <a:ea typeface="Public Sans Bold"/>
                <a:cs typeface="Public Sans Bold"/>
                <a:sym typeface="Public Sans Bold"/>
              </a:rPr>
              <a:t>Methods 1:</a:t>
            </a:r>
            <a:r>
              <a:rPr lang="en-US" b="true" sz="3199">
                <a:solidFill>
                  <a:srgbClr val="000000"/>
                </a:solidFill>
                <a:latin typeface="Public Sans Bold"/>
                <a:ea typeface="Public Sans Bold"/>
                <a:cs typeface="Public Sans Bold"/>
                <a:sym typeface="Public Sans Bold"/>
              </a:rPr>
              <a:t> Correlation Analysis: </a:t>
            </a:r>
            <a:r>
              <a:rPr lang="en-US" sz="3199">
                <a:solidFill>
                  <a:srgbClr val="000000"/>
                </a:solidFill>
                <a:latin typeface="Public Sans"/>
                <a:ea typeface="Public Sans"/>
                <a:cs typeface="Public Sans"/>
                <a:sym typeface="Public Sans"/>
              </a:rPr>
              <a:t>xây dựng ma trận tương quan và heatmap giữa demand và các biến đầu vào</a:t>
            </a:r>
          </a:p>
        </p:txBody>
      </p:sp>
      <p:sp>
        <p:nvSpPr>
          <p:cNvPr name="TextBox 9" id="9"/>
          <p:cNvSpPr txBox="true"/>
          <p:nvPr/>
        </p:nvSpPr>
        <p:spPr>
          <a:xfrm rot="0">
            <a:off x="203786" y="3365416"/>
            <a:ext cx="1780719" cy="547370"/>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Results :</a:t>
            </a:r>
          </a:p>
        </p:txBody>
      </p:sp>
      <p:sp>
        <p:nvSpPr>
          <p:cNvPr name="TextBox 10" id="10"/>
          <p:cNvSpPr txBox="true"/>
          <p:nvPr/>
        </p:nvSpPr>
        <p:spPr>
          <a:xfrm rot="0">
            <a:off x="685348" y="9544705"/>
            <a:ext cx="9273332" cy="514350"/>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Public Sans"/>
                <a:ea typeface="Public Sans"/>
                <a:cs typeface="Public Sans"/>
                <a:sym typeface="Public Sans"/>
              </a:rPr>
              <a:t>chưa thể</a:t>
            </a:r>
            <a:r>
              <a:rPr lang="en-US" sz="2999">
                <a:solidFill>
                  <a:srgbClr val="000000"/>
                </a:solidFill>
                <a:latin typeface="Public Sans"/>
                <a:ea typeface="Public Sans"/>
                <a:cs typeface="Public Sans"/>
                <a:sym typeface="Public Sans"/>
              </a:rPr>
              <a:t> kết luận ảnh hưởng thực sự của từng yếu tố</a:t>
            </a:r>
          </a:p>
        </p:txBody>
      </p:sp>
      <p:sp>
        <p:nvSpPr>
          <p:cNvPr name="TextBox 11" id="11"/>
          <p:cNvSpPr txBox="true"/>
          <p:nvPr/>
        </p:nvSpPr>
        <p:spPr>
          <a:xfrm rot="0">
            <a:off x="9913473" y="1248399"/>
            <a:ext cx="7830269" cy="1671321"/>
          </a:xfrm>
          <a:prstGeom prst="rect">
            <a:avLst/>
          </a:prstGeom>
        </p:spPr>
        <p:txBody>
          <a:bodyPr anchor="t" rtlCol="false" tIns="0" lIns="0" bIns="0" rIns="0">
            <a:spAutoFit/>
          </a:bodyPr>
          <a:lstStyle/>
          <a:p>
            <a:pPr algn="l">
              <a:lnSpc>
                <a:spcPts val="4479"/>
              </a:lnSpc>
              <a:spcBef>
                <a:spcPct val="0"/>
              </a:spcBef>
            </a:pPr>
            <a:r>
              <a:rPr lang="en-US" b="true" sz="3199">
                <a:solidFill>
                  <a:srgbClr val="000000"/>
                </a:solidFill>
                <a:latin typeface="Public Sans Bold"/>
                <a:ea typeface="Public Sans Bold"/>
                <a:cs typeface="Public Sans Bold"/>
                <a:sym typeface="Public Sans Bold"/>
              </a:rPr>
              <a:t>Methods 2:</a:t>
            </a:r>
            <a:r>
              <a:rPr lang="en-US" b="true" sz="3199">
                <a:solidFill>
                  <a:srgbClr val="000000"/>
                </a:solidFill>
                <a:latin typeface="Public Sans Bold"/>
                <a:ea typeface="Public Sans Bold"/>
                <a:cs typeface="Public Sans Bold"/>
                <a:sym typeface="Public Sans Bold"/>
              </a:rPr>
              <a:t> Multiple Linear Regression: </a:t>
            </a:r>
            <a:r>
              <a:rPr lang="en-US" sz="3199">
                <a:solidFill>
                  <a:srgbClr val="000000"/>
                </a:solidFill>
                <a:latin typeface="Public Sans"/>
                <a:ea typeface="Public Sans"/>
                <a:cs typeface="Public Sans"/>
                <a:sym typeface="Public Sans"/>
              </a:rPr>
              <a:t>xác định ảnh hưởng đồng thời của nhiều biến lên demand</a:t>
            </a:r>
          </a:p>
        </p:txBody>
      </p:sp>
      <p:sp>
        <p:nvSpPr>
          <p:cNvPr name="TextBox 12" id="12"/>
          <p:cNvSpPr txBox="true"/>
          <p:nvPr/>
        </p:nvSpPr>
        <p:spPr>
          <a:xfrm rot="0">
            <a:off x="10017058" y="3365416"/>
            <a:ext cx="1855990" cy="547370"/>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Results :</a:t>
            </a:r>
          </a:p>
        </p:txBody>
      </p:sp>
      <p:sp>
        <p:nvSpPr>
          <p:cNvPr name="TextBox 13" id="13"/>
          <p:cNvSpPr txBox="true"/>
          <p:nvPr/>
        </p:nvSpPr>
        <p:spPr>
          <a:xfrm rot="0">
            <a:off x="10047568" y="4441875"/>
            <a:ext cx="7783937" cy="2085975"/>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Public Sans"/>
                <a:ea typeface="Public Sans"/>
                <a:cs typeface="Public Sans"/>
                <a:sym typeface="Public Sans"/>
              </a:rPr>
              <a:t>Thu được các hệ số hồ</a:t>
            </a:r>
            <a:r>
              <a:rPr lang="en-US" sz="2999">
                <a:solidFill>
                  <a:srgbClr val="000000"/>
                </a:solidFill>
                <a:latin typeface="Public Sans"/>
                <a:ea typeface="Public Sans"/>
                <a:cs typeface="Public Sans"/>
                <a:sym typeface="Public Sans"/>
              </a:rPr>
              <a:t>i quy cho từng biến phản ánh chiều tác động và mức độ ảnh hưởng của từng đặc trưng khi các biến còn lại được giữ cố định</a:t>
            </a:r>
          </a:p>
        </p:txBody>
      </p:sp>
      <p:sp>
        <p:nvSpPr>
          <p:cNvPr name="TextBox 14" id="14"/>
          <p:cNvSpPr txBox="true"/>
          <p:nvPr/>
        </p:nvSpPr>
        <p:spPr>
          <a:xfrm rot="0">
            <a:off x="10047568" y="7037403"/>
            <a:ext cx="2501033" cy="547371"/>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Conclusion:</a:t>
            </a:r>
          </a:p>
        </p:txBody>
      </p:sp>
      <p:sp>
        <p:nvSpPr>
          <p:cNvPr name="TextBox 15" id="15"/>
          <p:cNvSpPr txBox="true"/>
          <p:nvPr/>
        </p:nvSpPr>
        <p:spPr>
          <a:xfrm rot="0">
            <a:off x="10163775" y="8089598"/>
            <a:ext cx="7783937" cy="1562100"/>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Public Sans"/>
                <a:ea typeface="Public Sans"/>
                <a:cs typeface="Public Sans"/>
                <a:sym typeface="Public Sans"/>
              </a:rPr>
              <a:t>Mult</a:t>
            </a:r>
            <a:r>
              <a:rPr lang="en-US" sz="2999">
                <a:solidFill>
                  <a:srgbClr val="000000"/>
                </a:solidFill>
                <a:latin typeface="Public Sans"/>
                <a:ea typeface="Public Sans"/>
                <a:cs typeface="Public Sans"/>
                <a:sym typeface="Public Sans"/>
              </a:rPr>
              <a:t>iple Linear Regression giúp xác định được yếu tố nào thực sự có liên hệ với demand khi xét đồng thời nhiều biến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4F3"/>
        </a:solidFill>
      </p:bgPr>
    </p:bg>
    <p:spTree>
      <p:nvGrpSpPr>
        <p:cNvPr id="1" name=""/>
        <p:cNvGrpSpPr/>
        <p:nvPr/>
      </p:nvGrpSpPr>
      <p:grpSpPr>
        <a:xfrm>
          <a:off x="0" y="0"/>
          <a:ext cx="0" cy="0"/>
          <a:chOff x="0" y="0"/>
          <a:chExt cx="0" cy="0"/>
        </a:xfrm>
      </p:grpSpPr>
      <p:sp>
        <p:nvSpPr>
          <p:cNvPr name="Freeform 2" id="2"/>
          <p:cNvSpPr/>
          <p:nvPr/>
        </p:nvSpPr>
        <p:spPr>
          <a:xfrm flipH="false" flipV="false" rot="0">
            <a:off x="16635171" y="0"/>
            <a:ext cx="1652829" cy="1652829"/>
          </a:xfrm>
          <a:custGeom>
            <a:avLst/>
            <a:gdLst/>
            <a:ahLst/>
            <a:cxnLst/>
            <a:rect r="r" b="b" t="t" l="l"/>
            <a:pathLst>
              <a:path h="1652829" w="1652829">
                <a:moveTo>
                  <a:pt x="0" y="0"/>
                </a:moveTo>
                <a:lnTo>
                  <a:pt x="1652829" y="0"/>
                </a:lnTo>
                <a:lnTo>
                  <a:pt x="1652829" y="1652829"/>
                </a:lnTo>
                <a:lnTo>
                  <a:pt x="0" y="1652829"/>
                </a:lnTo>
                <a:lnTo>
                  <a:pt x="0" y="0"/>
                </a:lnTo>
                <a:close/>
              </a:path>
            </a:pathLst>
          </a:custGeom>
          <a:blipFill>
            <a:blip r:embed="rId2">
              <a:alphaModFix amt="20999"/>
            </a:blip>
            <a:stretch>
              <a:fillRect l="0" t="0" r="0" b="0"/>
            </a:stretch>
          </a:blipFill>
        </p:spPr>
      </p:sp>
      <p:sp>
        <p:nvSpPr>
          <p:cNvPr name="Freeform 3" id="3"/>
          <p:cNvSpPr/>
          <p:nvPr/>
        </p:nvSpPr>
        <p:spPr>
          <a:xfrm flipH="false" flipV="false" rot="-5400000">
            <a:off x="3047568" y="5219695"/>
            <a:ext cx="7315200" cy="159604"/>
          </a:xfrm>
          <a:custGeom>
            <a:avLst/>
            <a:gdLst/>
            <a:ahLst/>
            <a:cxnLst/>
            <a:rect r="r" b="b" t="t" l="l"/>
            <a:pathLst>
              <a:path h="159604" w="7315200">
                <a:moveTo>
                  <a:pt x="0" y="0"/>
                </a:moveTo>
                <a:lnTo>
                  <a:pt x="7315200" y="0"/>
                </a:lnTo>
                <a:lnTo>
                  <a:pt x="7315200" y="159605"/>
                </a:lnTo>
                <a:lnTo>
                  <a:pt x="0" y="1596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315177" y="6527850"/>
            <a:ext cx="2719125" cy="2541336"/>
          </a:xfrm>
          <a:custGeom>
            <a:avLst/>
            <a:gdLst/>
            <a:ahLst/>
            <a:cxnLst/>
            <a:rect r="r" b="b" t="t" l="l"/>
            <a:pathLst>
              <a:path h="2541336" w="2719125">
                <a:moveTo>
                  <a:pt x="0" y="0"/>
                </a:moveTo>
                <a:lnTo>
                  <a:pt x="2719125" y="0"/>
                </a:lnTo>
                <a:lnTo>
                  <a:pt x="2719125" y="2541336"/>
                </a:lnTo>
                <a:lnTo>
                  <a:pt x="0" y="2541336"/>
                </a:lnTo>
                <a:lnTo>
                  <a:pt x="0" y="0"/>
                </a:lnTo>
                <a:close/>
              </a:path>
            </a:pathLst>
          </a:custGeom>
          <a:blipFill>
            <a:blip r:embed="rId5"/>
            <a:stretch>
              <a:fillRect l="0" t="0" r="0" b="0"/>
            </a:stretch>
          </a:blipFill>
        </p:spPr>
      </p:sp>
      <p:sp>
        <p:nvSpPr>
          <p:cNvPr name="Freeform 5" id="5"/>
          <p:cNvSpPr/>
          <p:nvPr/>
        </p:nvSpPr>
        <p:spPr>
          <a:xfrm flipH="false" flipV="false" rot="0">
            <a:off x="1979696" y="8279414"/>
            <a:ext cx="893775" cy="789772"/>
          </a:xfrm>
          <a:custGeom>
            <a:avLst/>
            <a:gdLst/>
            <a:ahLst/>
            <a:cxnLst/>
            <a:rect r="r" b="b" t="t" l="l"/>
            <a:pathLst>
              <a:path h="789772" w="893775">
                <a:moveTo>
                  <a:pt x="0" y="0"/>
                </a:moveTo>
                <a:lnTo>
                  <a:pt x="893776" y="0"/>
                </a:lnTo>
                <a:lnTo>
                  <a:pt x="893776" y="789772"/>
                </a:lnTo>
                <a:lnTo>
                  <a:pt x="0" y="7897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660703" y="8739260"/>
            <a:ext cx="747198" cy="218702"/>
          </a:xfrm>
          <a:custGeom>
            <a:avLst/>
            <a:gdLst/>
            <a:ahLst/>
            <a:cxnLst/>
            <a:rect r="r" b="b" t="t" l="l"/>
            <a:pathLst>
              <a:path h="218702" w="747198">
                <a:moveTo>
                  <a:pt x="0" y="0"/>
                </a:moveTo>
                <a:lnTo>
                  <a:pt x="747198" y="0"/>
                </a:lnTo>
                <a:lnTo>
                  <a:pt x="747198" y="218702"/>
                </a:lnTo>
                <a:lnTo>
                  <a:pt x="0" y="2187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6858007" y="3813947"/>
            <a:ext cx="11301259" cy="3983694"/>
          </a:xfrm>
          <a:custGeom>
            <a:avLst/>
            <a:gdLst/>
            <a:ahLst/>
            <a:cxnLst/>
            <a:rect r="r" b="b" t="t" l="l"/>
            <a:pathLst>
              <a:path h="3983694" w="11301259">
                <a:moveTo>
                  <a:pt x="0" y="0"/>
                </a:moveTo>
                <a:lnTo>
                  <a:pt x="11301259" y="0"/>
                </a:lnTo>
                <a:lnTo>
                  <a:pt x="11301259" y="3983694"/>
                </a:lnTo>
                <a:lnTo>
                  <a:pt x="0" y="3983694"/>
                </a:lnTo>
                <a:lnTo>
                  <a:pt x="0" y="0"/>
                </a:lnTo>
                <a:close/>
              </a:path>
            </a:pathLst>
          </a:custGeom>
          <a:blipFill>
            <a:blip r:embed="rId10"/>
            <a:stretch>
              <a:fillRect l="0" t="0" r="0" b="0"/>
            </a:stretch>
          </a:blipFill>
        </p:spPr>
      </p:sp>
      <p:sp>
        <p:nvSpPr>
          <p:cNvPr name="TextBox 8" id="8"/>
          <p:cNvSpPr txBox="true"/>
          <p:nvPr/>
        </p:nvSpPr>
        <p:spPr>
          <a:xfrm rot="0">
            <a:off x="234295" y="178053"/>
            <a:ext cx="15660538" cy="783717"/>
          </a:xfrm>
          <a:prstGeom prst="rect">
            <a:avLst/>
          </a:prstGeom>
        </p:spPr>
        <p:txBody>
          <a:bodyPr anchor="t" rtlCol="false" tIns="0" lIns="0" bIns="0" rIns="0">
            <a:spAutoFit/>
          </a:bodyPr>
          <a:lstStyle/>
          <a:p>
            <a:pPr algn="l">
              <a:lnSpc>
                <a:spcPts val="6594"/>
              </a:lnSpc>
            </a:pPr>
            <a:r>
              <a:rPr lang="en-US" sz="4200">
                <a:solidFill>
                  <a:srgbClr val="000000"/>
                </a:solidFill>
                <a:latin typeface="Anton"/>
                <a:ea typeface="Anton"/>
                <a:cs typeface="Anton"/>
                <a:sym typeface="Anton"/>
              </a:rPr>
              <a:t>RQ3: NHỮNG ĐẶC TRƯNG NÀO LIÊN QUAN ĐẾN NHU CẦU SẢN PHẨM? </a:t>
            </a:r>
          </a:p>
        </p:txBody>
      </p:sp>
      <p:sp>
        <p:nvSpPr>
          <p:cNvPr name="TextBox 9" id="9"/>
          <p:cNvSpPr txBox="true"/>
          <p:nvPr/>
        </p:nvSpPr>
        <p:spPr>
          <a:xfrm rot="0">
            <a:off x="234295" y="1248399"/>
            <a:ext cx="7830269" cy="547371"/>
          </a:xfrm>
          <a:prstGeom prst="rect">
            <a:avLst/>
          </a:prstGeom>
        </p:spPr>
        <p:txBody>
          <a:bodyPr anchor="t" rtlCol="false" tIns="0" lIns="0" bIns="0" rIns="0">
            <a:spAutoFit/>
          </a:bodyPr>
          <a:lstStyle/>
          <a:p>
            <a:pPr algn="l">
              <a:lnSpc>
                <a:spcPts val="4479"/>
              </a:lnSpc>
              <a:spcBef>
                <a:spcPct val="0"/>
              </a:spcBef>
            </a:pPr>
            <a:r>
              <a:rPr lang="en-US" b="true" sz="3199">
                <a:solidFill>
                  <a:srgbClr val="000000"/>
                </a:solidFill>
                <a:latin typeface="Public Sans Bold"/>
                <a:ea typeface="Public Sans Bold"/>
                <a:cs typeface="Public Sans Bold"/>
                <a:sym typeface="Public Sans Bold"/>
              </a:rPr>
              <a:t>Methods 3:</a:t>
            </a:r>
            <a:r>
              <a:rPr lang="en-US" b="true" sz="3199">
                <a:solidFill>
                  <a:srgbClr val="000000"/>
                </a:solidFill>
                <a:latin typeface="Public Sans Bold"/>
                <a:ea typeface="Public Sans Bold"/>
                <a:cs typeface="Public Sans Bold"/>
                <a:sym typeface="Public Sans Bold"/>
              </a:rPr>
              <a:t> Model Evaluation </a:t>
            </a:r>
          </a:p>
        </p:txBody>
      </p:sp>
      <p:sp>
        <p:nvSpPr>
          <p:cNvPr name="TextBox 10" id="10"/>
          <p:cNvSpPr txBox="true"/>
          <p:nvPr/>
        </p:nvSpPr>
        <p:spPr>
          <a:xfrm rot="0">
            <a:off x="203786" y="5739119"/>
            <a:ext cx="1775911" cy="547370"/>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Results :</a:t>
            </a:r>
          </a:p>
        </p:txBody>
      </p:sp>
      <p:sp>
        <p:nvSpPr>
          <p:cNvPr name="TextBox 11" id="11"/>
          <p:cNvSpPr txBox="true"/>
          <p:nvPr/>
        </p:nvSpPr>
        <p:spPr>
          <a:xfrm rot="0">
            <a:off x="7117711" y="1298490"/>
            <a:ext cx="8210203" cy="1562100"/>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Public Sans Bold"/>
                <a:ea typeface="Public Sans Bold"/>
                <a:cs typeface="Public Sans Bold"/>
                <a:sym typeface="Public Sans Bold"/>
              </a:rPr>
              <a:t>Methods 4:</a:t>
            </a:r>
            <a:r>
              <a:rPr lang="en-US" b="true" sz="2999">
                <a:solidFill>
                  <a:srgbClr val="000000"/>
                </a:solidFill>
                <a:latin typeface="Public Sans Bold"/>
                <a:ea typeface="Public Sans Bold"/>
                <a:cs typeface="Public Sans Bold"/>
                <a:sym typeface="Public Sans Bold"/>
              </a:rPr>
              <a:t> Residual Analysis:  </a:t>
            </a:r>
            <a:r>
              <a:rPr lang="en-US" sz="2999">
                <a:solidFill>
                  <a:srgbClr val="000000"/>
                </a:solidFill>
                <a:latin typeface="Public Sans"/>
                <a:ea typeface="Public Sans"/>
                <a:cs typeface="Public Sans"/>
                <a:sym typeface="Public Sans"/>
              </a:rPr>
              <a:t>kiểm tra xem mô hình có bỏ sót xu hướng quan trọng nào trong dữ liệu hay không</a:t>
            </a:r>
          </a:p>
        </p:txBody>
      </p:sp>
      <p:sp>
        <p:nvSpPr>
          <p:cNvPr name="TextBox 12" id="12"/>
          <p:cNvSpPr txBox="true"/>
          <p:nvPr/>
        </p:nvSpPr>
        <p:spPr>
          <a:xfrm rot="0">
            <a:off x="7087202" y="3146341"/>
            <a:ext cx="1855990" cy="547370"/>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Results :</a:t>
            </a:r>
          </a:p>
        </p:txBody>
      </p:sp>
      <p:sp>
        <p:nvSpPr>
          <p:cNvPr name="TextBox 13" id="13"/>
          <p:cNvSpPr txBox="true"/>
          <p:nvPr/>
        </p:nvSpPr>
        <p:spPr>
          <a:xfrm rot="0">
            <a:off x="6784970" y="7875147"/>
            <a:ext cx="7179801" cy="1323478"/>
          </a:xfrm>
          <a:prstGeom prst="rect">
            <a:avLst/>
          </a:prstGeom>
        </p:spPr>
        <p:txBody>
          <a:bodyPr anchor="t" rtlCol="false" tIns="0" lIns="0" bIns="0" rIns="0">
            <a:spAutoFit/>
          </a:bodyPr>
          <a:lstStyle/>
          <a:p>
            <a:pPr algn="l" marL="412290" indent="-206145" lvl="1">
              <a:lnSpc>
                <a:spcPts val="2673"/>
              </a:lnSpc>
              <a:buFont typeface="Arial"/>
              <a:buChar char="•"/>
            </a:pPr>
            <a:r>
              <a:rPr lang="en-US" sz="1909">
                <a:solidFill>
                  <a:srgbClr val="000000"/>
                </a:solidFill>
                <a:latin typeface="Public Sans"/>
                <a:ea typeface="Public Sans"/>
                <a:cs typeface="Public Sans"/>
                <a:sym typeface="Public Sans"/>
              </a:rPr>
              <a:t>Biểu</a:t>
            </a:r>
            <a:r>
              <a:rPr lang="en-US" sz="1909">
                <a:solidFill>
                  <a:srgbClr val="000000"/>
                </a:solidFill>
                <a:latin typeface="Public Sans"/>
                <a:ea typeface="Public Sans"/>
                <a:cs typeface="Public Sans"/>
                <a:sym typeface="Public Sans"/>
              </a:rPr>
              <a:t> đồ residual cho thấy phần lớn sai số tập trung quanh giá trị 0, nhưng phân bố chưa hoàn toàn ngẫu nhiên. Ở vùng dự đoán thấp, residual phân tán rộng hơn và xuất hiện một số điểm lệch dương lớn.</a:t>
            </a:r>
          </a:p>
        </p:txBody>
      </p:sp>
      <p:sp>
        <p:nvSpPr>
          <p:cNvPr name="TextBox 14" id="14"/>
          <p:cNvSpPr txBox="true"/>
          <p:nvPr/>
        </p:nvSpPr>
        <p:spPr>
          <a:xfrm rot="0">
            <a:off x="234295" y="2071994"/>
            <a:ext cx="6318033" cy="3733800"/>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Public Sans"/>
                <a:ea typeface="Public Sans"/>
                <a:cs typeface="Public Sans"/>
                <a:sym typeface="Public Sans"/>
              </a:rPr>
              <a:t>Ta đánh g</a:t>
            </a:r>
            <a:r>
              <a:rPr lang="en-US" sz="3000">
                <a:solidFill>
                  <a:srgbClr val="000000"/>
                </a:solidFill>
                <a:latin typeface="Public Sans"/>
                <a:ea typeface="Public Sans"/>
                <a:cs typeface="Public Sans"/>
                <a:sym typeface="Public Sans"/>
              </a:rPr>
              <a:t>iá mô hình bằng:</a:t>
            </a:r>
          </a:p>
          <a:p>
            <a:pPr algn="l" marL="647700" indent="-323850" lvl="1">
              <a:lnSpc>
                <a:spcPts val="4200"/>
              </a:lnSpc>
              <a:spcBef>
                <a:spcPct val="0"/>
              </a:spcBef>
              <a:buFont typeface="Arial"/>
              <a:buChar char="•"/>
            </a:pPr>
            <a:r>
              <a:rPr lang="en-US" sz="3000">
                <a:solidFill>
                  <a:srgbClr val="000000"/>
                </a:solidFill>
                <a:latin typeface="Public Sans"/>
                <a:ea typeface="Public Sans"/>
                <a:cs typeface="Public Sans"/>
                <a:sym typeface="Public Sans"/>
              </a:rPr>
              <a:t>RMSE: sai số bình phương trung bình căn bậc hai.</a:t>
            </a:r>
          </a:p>
          <a:p>
            <a:pPr algn="l" marL="647700" indent="-323850" lvl="1">
              <a:lnSpc>
                <a:spcPts val="4200"/>
              </a:lnSpc>
              <a:spcBef>
                <a:spcPct val="0"/>
              </a:spcBef>
              <a:buFont typeface="Arial"/>
              <a:buChar char="•"/>
            </a:pPr>
            <a:r>
              <a:rPr lang="en-US" sz="3000">
                <a:solidFill>
                  <a:srgbClr val="000000"/>
                </a:solidFill>
                <a:latin typeface="Public Sans"/>
                <a:ea typeface="Public Sans"/>
                <a:cs typeface="Public Sans"/>
                <a:sym typeface="Public Sans"/>
              </a:rPr>
              <a:t>MAE: sai số tuyệt đối trung bình.</a:t>
            </a:r>
          </a:p>
          <a:p>
            <a:pPr algn="l" marL="647700" indent="-323850" lvl="1">
              <a:lnSpc>
                <a:spcPts val="4200"/>
              </a:lnSpc>
              <a:spcBef>
                <a:spcPct val="0"/>
              </a:spcBef>
              <a:buFont typeface="Arial"/>
              <a:buChar char="•"/>
            </a:pPr>
            <a:r>
              <a:rPr lang="en-US" sz="3000">
                <a:solidFill>
                  <a:srgbClr val="000000"/>
                </a:solidFill>
                <a:latin typeface="Public Sans"/>
                <a:ea typeface="Public Sans"/>
                <a:cs typeface="Public Sans"/>
                <a:sym typeface="Public Sans"/>
              </a:rPr>
              <a:t>R²: tỷ lệ biến thiên của demand được mô hình giải thích.</a:t>
            </a:r>
          </a:p>
          <a:p>
            <a:pPr algn="l">
              <a:lnSpc>
                <a:spcPts val="4200"/>
              </a:lnSpc>
              <a:spcBef>
                <a:spcPct val="0"/>
              </a:spcBef>
            </a:pPr>
          </a:p>
        </p:txBody>
      </p:sp>
      <p:sp>
        <p:nvSpPr>
          <p:cNvPr name="TextBox 15" id="15"/>
          <p:cNvSpPr txBox="true"/>
          <p:nvPr/>
        </p:nvSpPr>
        <p:spPr>
          <a:xfrm rot="0">
            <a:off x="3034302" y="7296800"/>
            <a:ext cx="2525062" cy="1185268"/>
          </a:xfrm>
          <a:prstGeom prst="rect">
            <a:avLst/>
          </a:prstGeom>
        </p:spPr>
        <p:txBody>
          <a:bodyPr anchor="t" rtlCol="false" tIns="0" lIns="0" bIns="0" rIns="0">
            <a:spAutoFit/>
          </a:bodyPr>
          <a:lstStyle/>
          <a:p>
            <a:pPr algn="ctr">
              <a:lnSpc>
                <a:spcPts val="2322"/>
              </a:lnSpc>
              <a:spcBef>
                <a:spcPct val="0"/>
              </a:spcBef>
            </a:pPr>
            <a:r>
              <a:rPr lang="en-US" sz="1658">
                <a:solidFill>
                  <a:srgbClr val="000000"/>
                </a:solidFill>
                <a:latin typeface="Public Sans"/>
                <a:ea typeface="Public Sans"/>
                <a:cs typeface="Public Sans"/>
                <a:sym typeface="Public Sans"/>
              </a:rPr>
              <a:t>Mô hình này </a:t>
            </a:r>
            <a:r>
              <a:rPr lang="en-US" sz="1658">
                <a:solidFill>
                  <a:srgbClr val="000000"/>
                </a:solidFill>
                <a:latin typeface="Public Sans"/>
                <a:ea typeface="Public Sans"/>
                <a:cs typeface="Public Sans"/>
                <a:sym typeface="Public Sans"/>
              </a:rPr>
              <a:t>có khả năng mô tả mối quan hệ giữa các đặc trưng sản phẩm và nhu cầu thị trường      </a:t>
            </a:r>
          </a:p>
        </p:txBody>
      </p:sp>
      <p:sp>
        <p:nvSpPr>
          <p:cNvPr name="TextBox 16" id="16"/>
          <p:cNvSpPr txBox="true"/>
          <p:nvPr/>
        </p:nvSpPr>
        <p:spPr>
          <a:xfrm rot="0">
            <a:off x="3034302" y="9389124"/>
            <a:ext cx="16581096" cy="547371"/>
          </a:xfrm>
          <a:prstGeom prst="rect">
            <a:avLst/>
          </a:prstGeom>
        </p:spPr>
        <p:txBody>
          <a:bodyPr anchor="t" rtlCol="false" tIns="0" lIns="0" bIns="0" rIns="0">
            <a:spAutoFit/>
          </a:bodyPr>
          <a:lstStyle/>
          <a:p>
            <a:pPr algn="l">
              <a:lnSpc>
                <a:spcPts val="4479"/>
              </a:lnSpc>
              <a:spcBef>
                <a:spcPct val="0"/>
              </a:spcBef>
            </a:pPr>
            <a:r>
              <a:rPr lang="en-US" b="true" sz="3199">
                <a:solidFill>
                  <a:srgbClr val="000000"/>
                </a:solidFill>
                <a:latin typeface="Public Sans Bold"/>
                <a:ea typeface="Public Sans Bold"/>
                <a:cs typeface="Public Sans Bold"/>
                <a:sym typeface="Public Sans Bold"/>
              </a:rPr>
              <a:t>C</a:t>
            </a:r>
            <a:r>
              <a:rPr lang="en-US" b="true" sz="3199">
                <a:solidFill>
                  <a:srgbClr val="000000"/>
                </a:solidFill>
                <a:latin typeface="Public Sans Bold"/>
                <a:ea typeface="Public Sans Bold"/>
                <a:cs typeface="Public Sans Bold"/>
                <a:sym typeface="Public Sans Bold"/>
              </a:rPr>
              <a:t>onclusion: </a:t>
            </a:r>
            <a:r>
              <a:rPr lang="en-US" sz="3199">
                <a:solidFill>
                  <a:srgbClr val="000000"/>
                </a:solidFill>
                <a:latin typeface="Public Sans"/>
                <a:ea typeface="Public Sans"/>
                <a:cs typeface="Public Sans"/>
                <a:sym typeface="Public Sans"/>
              </a:rPr>
              <a:t>mô hình hồi quy tuyến tính phù hợp tương đối tốt với dữ liệu hiện có</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4F3"/>
        </a:solidFill>
      </p:bgPr>
    </p:bg>
    <p:spTree>
      <p:nvGrpSpPr>
        <p:cNvPr id="1" name=""/>
        <p:cNvGrpSpPr/>
        <p:nvPr/>
      </p:nvGrpSpPr>
      <p:grpSpPr>
        <a:xfrm>
          <a:off x="0" y="0"/>
          <a:ext cx="0" cy="0"/>
          <a:chOff x="0" y="0"/>
          <a:chExt cx="0" cy="0"/>
        </a:xfrm>
      </p:grpSpPr>
      <p:sp>
        <p:nvSpPr>
          <p:cNvPr name="Freeform 2" id="2"/>
          <p:cNvSpPr/>
          <p:nvPr/>
        </p:nvSpPr>
        <p:spPr>
          <a:xfrm flipH="false" flipV="false" rot="0">
            <a:off x="16635171" y="0"/>
            <a:ext cx="1652829" cy="1652829"/>
          </a:xfrm>
          <a:custGeom>
            <a:avLst/>
            <a:gdLst/>
            <a:ahLst/>
            <a:cxnLst/>
            <a:rect r="r" b="b" t="t" l="l"/>
            <a:pathLst>
              <a:path h="1652829" w="1652829">
                <a:moveTo>
                  <a:pt x="0" y="0"/>
                </a:moveTo>
                <a:lnTo>
                  <a:pt x="1652829" y="0"/>
                </a:lnTo>
                <a:lnTo>
                  <a:pt x="1652829" y="1652829"/>
                </a:lnTo>
                <a:lnTo>
                  <a:pt x="0" y="1652829"/>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346017" y="4710628"/>
            <a:ext cx="3993380" cy="2676942"/>
          </a:xfrm>
          <a:custGeom>
            <a:avLst/>
            <a:gdLst/>
            <a:ahLst/>
            <a:cxnLst/>
            <a:rect r="r" b="b" t="t" l="l"/>
            <a:pathLst>
              <a:path h="2676942" w="3993380">
                <a:moveTo>
                  <a:pt x="0" y="0"/>
                </a:moveTo>
                <a:lnTo>
                  <a:pt x="3993380" y="0"/>
                </a:lnTo>
                <a:lnTo>
                  <a:pt x="3993380" y="2676942"/>
                </a:lnTo>
                <a:lnTo>
                  <a:pt x="0" y="2676942"/>
                </a:lnTo>
                <a:lnTo>
                  <a:pt x="0" y="0"/>
                </a:lnTo>
                <a:close/>
              </a:path>
            </a:pathLst>
          </a:custGeom>
          <a:blipFill>
            <a:blip r:embed="rId3"/>
            <a:stretch>
              <a:fillRect l="0" t="0" r="0" b="0"/>
            </a:stretch>
          </a:blipFill>
        </p:spPr>
      </p:sp>
      <p:sp>
        <p:nvSpPr>
          <p:cNvPr name="Freeform 4" id="4"/>
          <p:cNvSpPr/>
          <p:nvPr/>
        </p:nvSpPr>
        <p:spPr>
          <a:xfrm flipH="false" flipV="false" rot="0">
            <a:off x="9577800" y="2561992"/>
            <a:ext cx="287343" cy="1162050"/>
          </a:xfrm>
          <a:custGeom>
            <a:avLst/>
            <a:gdLst/>
            <a:ahLst/>
            <a:cxnLst/>
            <a:rect r="r" b="b" t="t" l="l"/>
            <a:pathLst>
              <a:path h="1162050" w="287343">
                <a:moveTo>
                  <a:pt x="0" y="0"/>
                </a:moveTo>
                <a:lnTo>
                  <a:pt x="287343" y="0"/>
                </a:lnTo>
                <a:lnTo>
                  <a:pt x="287343" y="1162050"/>
                </a:lnTo>
                <a:lnTo>
                  <a:pt x="0" y="11620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296839" y="5108484"/>
            <a:ext cx="8212924" cy="2279086"/>
          </a:xfrm>
          <a:custGeom>
            <a:avLst/>
            <a:gdLst/>
            <a:ahLst/>
            <a:cxnLst/>
            <a:rect r="r" b="b" t="t" l="l"/>
            <a:pathLst>
              <a:path h="2279086" w="8212924">
                <a:moveTo>
                  <a:pt x="0" y="0"/>
                </a:moveTo>
                <a:lnTo>
                  <a:pt x="8212924" y="0"/>
                </a:lnTo>
                <a:lnTo>
                  <a:pt x="8212924" y="2279086"/>
                </a:lnTo>
                <a:lnTo>
                  <a:pt x="0" y="2279086"/>
                </a:lnTo>
                <a:lnTo>
                  <a:pt x="0" y="0"/>
                </a:lnTo>
                <a:close/>
              </a:path>
            </a:pathLst>
          </a:custGeom>
          <a:blipFill>
            <a:blip r:embed="rId6"/>
            <a:stretch>
              <a:fillRect l="0" t="0" r="0" b="0"/>
            </a:stretch>
          </a:blipFill>
        </p:spPr>
      </p:sp>
      <p:sp>
        <p:nvSpPr>
          <p:cNvPr name="TextBox 6" id="6"/>
          <p:cNvSpPr txBox="true"/>
          <p:nvPr/>
        </p:nvSpPr>
        <p:spPr>
          <a:xfrm rot="0">
            <a:off x="234295" y="178053"/>
            <a:ext cx="15660538" cy="783717"/>
          </a:xfrm>
          <a:prstGeom prst="rect">
            <a:avLst/>
          </a:prstGeom>
        </p:spPr>
        <p:txBody>
          <a:bodyPr anchor="t" rtlCol="false" tIns="0" lIns="0" bIns="0" rIns="0">
            <a:spAutoFit/>
          </a:bodyPr>
          <a:lstStyle/>
          <a:p>
            <a:pPr algn="l">
              <a:lnSpc>
                <a:spcPts val="6594"/>
              </a:lnSpc>
            </a:pPr>
            <a:r>
              <a:rPr lang="en-US" sz="4200">
                <a:solidFill>
                  <a:srgbClr val="000000"/>
                </a:solidFill>
                <a:latin typeface="Anton"/>
                <a:ea typeface="Anton"/>
                <a:cs typeface="Anton"/>
                <a:sym typeface="Anton"/>
              </a:rPr>
              <a:t>RQ3: NHỮNG ĐẶC TRƯNG NÀO LIÊN QUAN ĐẾN NHU CẦU SẢN PHẨM? </a:t>
            </a:r>
          </a:p>
        </p:txBody>
      </p:sp>
      <p:sp>
        <p:nvSpPr>
          <p:cNvPr name="TextBox 7" id="7"/>
          <p:cNvSpPr txBox="true"/>
          <p:nvPr/>
        </p:nvSpPr>
        <p:spPr>
          <a:xfrm rot="0">
            <a:off x="234295" y="1248399"/>
            <a:ext cx="8210203" cy="1671321"/>
          </a:xfrm>
          <a:prstGeom prst="rect">
            <a:avLst/>
          </a:prstGeom>
        </p:spPr>
        <p:txBody>
          <a:bodyPr anchor="t" rtlCol="false" tIns="0" lIns="0" bIns="0" rIns="0">
            <a:spAutoFit/>
          </a:bodyPr>
          <a:lstStyle/>
          <a:p>
            <a:pPr algn="l">
              <a:lnSpc>
                <a:spcPts val="4479"/>
              </a:lnSpc>
              <a:spcBef>
                <a:spcPct val="0"/>
              </a:spcBef>
            </a:pPr>
            <a:r>
              <a:rPr lang="en-US" b="true" sz="3199">
                <a:solidFill>
                  <a:srgbClr val="000000"/>
                </a:solidFill>
                <a:latin typeface="Public Sans Bold"/>
                <a:ea typeface="Public Sans Bold"/>
                <a:cs typeface="Public Sans Bold"/>
                <a:sym typeface="Public Sans Bold"/>
              </a:rPr>
              <a:t>Methods 5:</a:t>
            </a:r>
            <a:r>
              <a:rPr lang="en-US" b="true" sz="3199">
                <a:solidFill>
                  <a:srgbClr val="000000"/>
                </a:solidFill>
                <a:latin typeface="Public Sans Bold"/>
                <a:ea typeface="Public Sans Bold"/>
                <a:cs typeface="Public Sans Bold"/>
                <a:sym typeface="Public Sans Bold"/>
              </a:rPr>
              <a:t> Coefficient Interpretation: </a:t>
            </a:r>
            <a:r>
              <a:rPr lang="en-US" sz="3199">
                <a:solidFill>
                  <a:srgbClr val="000000"/>
                </a:solidFill>
                <a:latin typeface="Public Sans"/>
                <a:ea typeface="Public Sans"/>
                <a:cs typeface="Public Sans"/>
                <a:sym typeface="Public Sans"/>
              </a:rPr>
              <a:t>chuẩn hóa giúp so sánh mức độ ảnh hưởng tương đối giữa các biến</a:t>
            </a:r>
          </a:p>
        </p:txBody>
      </p:sp>
      <p:sp>
        <p:nvSpPr>
          <p:cNvPr name="TextBox 8" id="8"/>
          <p:cNvSpPr txBox="true"/>
          <p:nvPr/>
        </p:nvSpPr>
        <p:spPr>
          <a:xfrm rot="0">
            <a:off x="284667" y="3952642"/>
            <a:ext cx="1855990" cy="547370"/>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Results :</a:t>
            </a:r>
          </a:p>
        </p:txBody>
      </p:sp>
      <p:sp>
        <p:nvSpPr>
          <p:cNvPr name="TextBox 9" id="9"/>
          <p:cNvSpPr txBox="true"/>
          <p:nvPr/>
        </p:nvSpPr>
        <p:spPr>
          <a:xfrm rot="0">
            <a:off x="9296839" y="1160695"/>
            <a:ext cx="8650873" cy="1109346"/>
          </a:xfrm>
          <a:prstGeom prst="rect">
            <a:avLst/>
          </a:prstGeom>
        </p:spPr>
        <p:txBody>
          <a:bodyPr anchor="t" rtlCol="false" tIns="0" lIns="0" bIns="0" rIns="0">
            <a:spAutoFit/>
          </a:bodyPr>
          <a:lstStyle/>
          <a:p>
            <a:pPr algn="l">
              <a:lnSpc>
                <a:spcPts val="4479"/>
              </a:lnSpc>
              <a:spcBef>
                <a:spcPct val="0"/>
              </a:spcBef>
            </a:pPr>
            <a:r>
              <a:rPr lang="en-US" b="true" sz="3199">
                <a:solidFill>
                  <a:srgbClr val="000000"/>
                </a:solidFill>
                <a:latin typeface="Public Sans Bold"/>
                <a:ea typeface="Public Sans Bold"/>
                <a:cs typeface="Public Sans Bold"/>
                <a:sym typeface="Public Sans Bold"/>
              </a:rPr>
              <a:t>Methods 6:</a:t>
            </a:r>
            <a:r>
              <a:rPr lang="en-US" b="true" sz="3199">
                <a:solidFill>
                  <a:srgbClr val="000000"/>
                </a:solidFill>
                <a:latin typeface="Public Sans Bold"/>
                <a:ea typeface="Public Sans Bold"/>
                <a:cs typeface="Public Sans Bold"/>
                <a:sym typeface="Public Sans Bold"/>
              </a:rPr>
              <a:t> Bootstrap Confidence Interval: </a:t>
            </a:r>
            <a:r>
              <a:rPr lang="en-US" sz="3199">
                <a:solidFill>
                  <a:srgbClr val="000000"/>
                </a:solidFill>
                <a:latin typeface="Public Sans"/>
                <a:ea typeface="Public Sans"/>
                <a:cs typeface="Public Sans"/>
                <a:sym typeface="Public Sans"/>
              </a:rPr>
              <a:t>kiểm tra độ ổn định của các hệ số hồi quy</a:t>
            </a:r>
          </a:p>
        </p:txBody>
      </p:sp>
      <p:sp>
        <p:nvSpPr>
          <p:cNvPr name="TextBox 10" id="10"/>
          <p:cNvSpPr txBox="true"/>
          <p:nvPr/>
        </p:nvSpPr>
        <p:spPr>
          <a:xfrm rot="0">
            <a:off x="9287091" y="3952642"/>
            <a:ext cx="4903515" cy="547370"/>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Result: </a:t>
            </a:r>
            <a:r>
              <a:rPr lang="en-US" b="true" sz="3199">
                <a:solidFill>
                  <a:srgbClr val="000000"/>
                </a:solidFill>
                <a:latin typeface="Public Sans Bold"/>
                <a:ea typeface="Public Sans Bold"/>
                <a:cs typeface="Public Sans Bold"/>
                <a:sym typeface="Public Sans Bold"/>
              </a:rPr>
              <a:t> </a:t>
            </a:r>
            <a:r>
              <a:rPr lang="en-US" sz="3199">
                <a:solidFill>
                  <a:srgbClr val="000000"/>
                </a:solidFill>
                <a:latin typeface="Public Sans"/>
                <a:ea typeface="Public Sans"/>
                <a:cs typeface="Public Sans"/>
                <a:sym typeface="Public Sans"/>
              </a:rPr>
              <a:t>tương đối ổn định </a:t>
            </a:r>
          </a:p>
        </p:txBody>
      </p:sp>
      <p:sp>
        <p:nvSpPr>
          <p:cNvPr name="TextBox 11" id="11"/>
          <p:cNvSpPr txBox="true"/>
          <p:nvPr/>
        </p:nvSpPr>
        <p:spPr>
          <a:xfrm rot="0">
            <a:off x="9721472" y="2479591"/>
            <a:ext cx="5826310" cy="1244451"/>
          </a:xfrm>
          <a:prstGeom prst="rect">
            <a:avLst/>
          </a:prstGeom>
        </p:spPr>
        <p:txBody>
          <a:bodyPr anchor="t" rtlCol="false" tIns="0" lIns="0" bIns="0" rIns="0">
            <a:spAutoFit/>
          </a:bodyPr>
          <a:lstStyle/>
          <a:p>
            <a:pPr algn="l" marL="514244" indent="-257122" lvl="1">
              <a:lnSpc>
                <a:spcPts val="3334"/>
              </a:lnSpc>
              <a:buFont typeface="Arial"/>
              <a:buChar char="•"/>
            </a:pPr>
            <a:r>
              <a:rPr lang="en-US" sz="2381">
                <a:solidFill>
                  <a:srgbClr val="000000"/>
                </a:solidFill>
                <a:latin typeface="Public Sans"/>
                <a:ea typeface="Public Sans"/>
                <a:cs typeface="Public Sans"/>
                <a:sym typeface="Public Sans"/>
              </a:rPr>
              <a:t>log_rev</a:t>
            </a:r>
            <a:r>
              <a:rPr lang="en-US" sz="2381">
                <a:solidFill>
                  <a:srgbClr val="000000"/>
                </a:solidFill>
                <a:latin typeface="Public Sans"/>
                <a:ea typeface="Public Sans"/>
                <a:cs typeface="Public Sans"/>
                <a:sym typeface="Public Sans"/>
              </a:rPr>
              <a:t>iew_count </a:t>
            </a:r>
          </a:p>
          <a:p>
            <a:pPr algn="l" marL="514244" indent="-257122" lvl="1">
              <a:lnSpc>
                <a:spcPts val="3334"/>
              </a:lnSpc>
              <a:buFont typeface="Arial"/>
              <a:buChar char="•"/>
            </a:pPr>
            <a:r>
              <a:rPr lang="en-US" sz="2381">
                <a:solidFill>
                  <a:srgbClr val="000000"/>
                </a:solidFill>
                <a:latin typeface="Public Sans"/>
                <a:ea typeface="Public Sans"/>
                <a:cs typeface="Public Sans"/>
                <a:sym typeface="Public Sans"/>
              </a:rPr>
              <a:t>log_price </a:t>
            </a:r>
          </a:p>
          <a:p>
            <a:pPr algn="l" marL="514244" indent="-257122" lvl="1">
              <a:lnSpc>
                <a:spcPts val="3334"/>
              </a:lnSpc>
              <a:buFont typeface="Arial"/>
              <a:buChar char="•"/>
            </a:pPr>
            <a:r>
              <a:rPr lang="en-US" sz="2381">
                <a:solidFill>
                  <a:srgbClr val="000000"/>
                </a:solidFill>
                <a:latin typeface="Public Sans"/>
                <a:ea typeface="Public Sans"/>
                <a:cs typeface="Public Sans"/>
                <a:sym typeface="Public Sans"/>
              </a:rPr>
              <a:t>discount_rate </a:t>
            </a:r>
          </a:p>
        </p:txBody>
      </p:sp>
      <p:sp>
        <p:nvSpPr>
          <p:cNvPr name="TextBox 12" id="12"/>
          <p:cNvSpPr txBox="true"/>
          <p:nvPr/>
        </p:nvSpPr>
        <p:spPr>
          <a:xfrm rot="0">
            <a:off x="2301227" y="7520920"/>
            <a:ext cx="14553147" cy="320040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000000"/>
                </a:solidFill>
                <a:latin typeface="Public Sans"/>
                <a:ea typeface="Public Sans"/>
                <a:cs typeface="Public Sans"/>
                <a:sym typeface="Public Sans"/>
              </a:rPr>
              <a:t>review count </a:t>
            </a:r>
            <a:r>
              <a:rPr lang="en-US" sz="3000">
                <a:solidFill>
                  <a:srgbClr val="000000"/>
                </a:solidFill>
                <a:latin typeface="Public Sans"/>
                <a:ea typeface="Public Sans"/>
                <a:cs typeface="Public Sans"/>
                <a:sym typeface="Public Sans"/>
              </a:rPr>
              <a:t> là yếu tố liên quan mạnh nhất đến nhu cầu sản phẩm</a:t>
            </a:r>
          </a:p>
          <a:p>
            <a:pPr algn="l" marL="647700" indent="-323850" lvl="1">
              <a:lnSpc>
                <a:spcPts val="4200"/>
              </a:lnSpc>
              <a:buFont typeface="Arial"/>
              <a:buChar char="•"/>
            </a:pPr>
            <a:r>
              <a:rPr lang="en-US" sz="3000">
                <a:solidFill>
                  <a:srgbClr val="000000"/>
                </a:solidFill>
                <a:latin typeface="Public Sans"/>
                <a:ea typeface="Public Sans"/>
                <a:cs typeface="Public Sans"/>
                <a:sym typeface="Public Sans"/>
              </a:rPr>
              <a:t>các sản phẩm có nhiều đánh giá thường đạt doanh số cao hơn</a:t>
            </a:r>
          </a:p>
          <a:p>
            <a:pPr algn="l" marL="647700" indent="-323850" lvl="1">
              <a:lnSpc>
                <a:spcPts val="4200"/>
              </a:lnSpc>
              <a:buFont typeface="Arial"/>
              <a:buChar char="•"/>
            </a:pPr>
            <a:r>
              <a:rPr lang="en-US" sz="3000">
                <a:solidFill>
                  <a:srgbClr val="000000"/>
                </a:solidFill>
                <a:latin typeface="Public Sans"/>
                <a:ea typeface="Public Sans"/>
                <a:cs typeface="Public Sans"/>
                <a:sym typeface="Public Sans"/>
              </a:rPr>
              <a:t>price có mối liên hệ âm với demand, trong khi discount rate  có mối liên hệ dương</a:t>
            </a:r>
          </a:p>
          <a:p>
            <a:pPr algn="l" marL="647700" indent="-323850" lvl="1">
              <a:lnSpc>
                <a:spcPts val="4200"/>
              </a:lnSpc>
              <a:buFont typeface="Arial"/>
              <a:buChar char="•"/>
            </a:pPr>
            <a:r>
              <a:rPr lang="en-US" sz="3000">
                <a:solidFill>
                  <a:srgbClr val="000000"/>
                </a:solidFill>
                <a:latin typeface="Public Sans"/>
                <a:ea typeface="Public Sans"/>
                <a:cs typeface="Public Sans"/>
                <a:sym typeface="Public Sans"/>
              </a:rPr>
              <a:t> mô hình hồi quy giải thích được một phần đáng kể sự biến động của lượng bán</a:t>
            </a:r>
          </a:p>
          <a:p>
            <a:pPr algn="l" marL="647700" indent="-323850" lvl="1">
              <a:lnSpc>
                <a:spcPts val="4200"/>
              </a:lnSpc>
              <a:buFont typeface="Arial"/>
              <a:buChar char="•"/>
            </a:pPr>
            <a:r>
              <a:rPr lang="en-US" sz="3000">
                <a:solidFill>
                  <a:srgbClr val="000000"/>
                </a:solidFill>
                <a:latin typeface="Public Sans"/>
                <a:ea typeface="Public Sans"/>
                <a:cs typeface="Public Sans"/>
                <a:sym typeface="Public Sans"/>
              </a:rPr>
              <a:t> kết quả Bootstrap cho thấy các kết luận chính có độ ổn định và độ tin cậy cao</a:t>
            </a:r>
          </a:p>
        </p:txBody>
      </p:sp>
      <p:sp>
        <p:nvSpPr>
          <p:cNvPr name="TextBox 13" id="13"/>
          <p:cNvSpPr txBox="true"/>
          <p:nvPr/>
        </p:nvSpPr>
        <p:spPr>
          <a:xfrm rot="0">
            <a:off x="0" y="8146711"/>
            <a:ext cx="1593216" cy="547370"/>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Public Sans Bold"/>
                <a:ea typeface="Public Sans Bold"/>
                <a:cs typeface="Public Sans Bold"/>
                <a:sym typeface="Public Sans Bold"/>
              </a:rPr>
              <a:t>Overall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F4F3"/>
        </a:solidFill>
      </p:bgPr>
    </p:bg>
    <p:spTree>
      <p:nvGrpSpPr>
        <p:cNvPr id="1" name=""/>
        <p:cNvGrpSpPr/>
        <p:nvPr/>
      </p:nvGrpSpPr>
      <p:grpSpPr>
        <a:xfrm>
          <a:off x="0" y="0"/>
          <a:ext cx="0" cy="0"/>
          <a:chOff x="0" y="0"/>
          <a:chExt cx="0" cy="0"/>
        </a:xfrm>
      </p:grpSpPr>
      <p:sp>
        <p:nvSpPr>
          <p:cNvPr name="Freeform 2" id="2"/>
          <p:cNvSpPr/>
          <p:nvPr/>
        </p:nvSpPr>
        <p:spPr>
          <a:xfrm flipH="false" flipV="false" rot="0">
            <a:off x="12424025" y="4202950"/>
            <a:ext cx="5341818" cy="2952568"/>
          </a:xfrm>
          <a:custGeom>
            <a:avLst/>
            <a:gdLst/>
            <a:ahLst/>
            <a:cxnLst/>
            <a:rect r="r" b="b" t="t" l="l"/>
            <a:pathLst>
              <a:path h="2952568" w="5341818">
                <a:moveTo>
                  <a:pt x="0" y="0"/>
                </a:moveTo>
                <a:lnTo>
                  <a:pt x="5341818" y="0"/>
                </a:lnTo>
                <a:lnTo>
                  <a:pt x="5341818" y="2952568"/>
                </a:lnTo>
                <a:lnTo>
                  <a:pt x="0" y="29525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377169" y="4202950"/>
            <a:ext cx="5341818" cy="2952568"/>
          </a:xfrm>
          <a:custGeom>
            <a:avLst/>
            <a:gdLst/>
            <a:ahLst/>
            <a:cxnLst/>
            <a:rect r="r" b="b" t="t" l="l"/>
            <a:pathLst>
              <a:path h="2952568" w="5341818">
                <a:moveTo>
                  <a:pt x="0" y="0"/>
                </a:moveTo>
                <a:lnTo>
                  <a:pt x="5341817" y="0"/>
                </a:lnTo>
                <a:lnTo>
                  <a:pt x="5341817" y="2952568"/>
                </a:lnTo>
                <a:lnTo>
                  <a:pt x="0" y="29525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30312" y="4202950"/>
            <a:ext cx="5341818" cy="2952568"/>
          </a:xfrm>
          <a:custGeom>
            <a:avLst/>
            <a:gdLst/>
            <a:ahLst/>
            <a:cxnLst/>
            <a:rect r="r" b="b" t="t" l="l"/>
            <a:pathLst>
              <a:path h="2952568" w="5341818">
                <a:moveTo>
                  <a:pt x="0" y="0"/>
                </a:moveTo>
                <a:lnTo>
                  <a:pt x="5341817" y="0"/>
                </a:lnTo>
                <a:lnTo>
                  <a:pt x="5341817" y="2952568"/>
                </a:lnTo>
                <a:lnTo>
                  <a:pt x="0" y="2952568"/>
                </a:lnTo>
                <a:lnTo>
                  <a:pt x="0" y="0"/>
                </a:lnTo>
                <a:close/>
              </a:path>
            </a:pathLst>
          </a:custGeom>
          <a:blipFill>
            <a:blip r:embed="rId4"/>
            <a:stretch>
              <a:fillRect l="0" t="0" r="0" b="0"/>
            </a:stretch>
          </a:blipFill>
        </p:spPr>
      </p:sp>
      <p:sp>
        <p:nvSpPr>
          <p:cNvPr name="Freeform 5" id="5"/>
          <p:cNvSpPr/>
          <p:nvPr/>
        </p:nvSpPr>
        <p:spPr>
          <a:xfrm flipH="false" flipV="false" rot="0">
            <a:off x="2768563" y="7616302"/>
            <a:ext cx="817901" cy="2670698"/>
          </a:xfrm>
          <a:custGeom>
            <a:avLst/>
            <a:gdLst/>
            <a:ahLst/>
            <a:cxnLst/>
            <a:rect r="r" b="b" t="t" l="l"/>
            <a:pathLst>
              <a:path h="2670698" w="817901">
                <a:moveTo>
                  <a:pt x="0" y="0"/>
                </a:moveTo>
                <a:lnTo>
                  <a:pt x="817902" y="0"/>
                </a:lnTo>
                <a:lnTo>
                  <a:pt x="817902" y="2670698"/>
                </a:lnTo>
                <a:lnTo>
                  <a:pt x="0" y="2670698"/>
                </a:lnTo>
                <a:lnTo>
                  <a:pt x="0" y="0"/>
                </a:lnTo>
                <a:close/>
              </a:path>
            </a:pathLst>
          </a:custGeom>
          <a:blipFill>
            <a:blip r:embed="rId5"/>
            <a:stretch>
              <a:fillRect l="0" t="0" r="0" b="0"/>
            </a:stretch>
          </a:blipFill>
        </p:spPr>
      </p:sp>
      <p:sp>
        <p:nvSpPr>
          <p:cNvPr name="Freeform 6" id="6"/>
          <p:cNvSpPr/>
          <p:nvPr/>
        </p:nvSpPr>
        <p:spPr>
          <a:xfrm flipH="false" flipV="false" rot="0">
            <a:off x="8735049" y="7616302"/>
            <a:ext cx="817901" cy="2670698"/>
          </a:xfrm>
          <a:custGeom>
            <a:avLst/>
            <a:gdLst/>
            <a:ahLst/>
            <a:cxnLst/>
            <a:rect r="r" b="b" t="t" l="l"/>
            <a:pathLst>
              <a:path h="2670698" w="817901">
                <a:moveTo>
                  <a:pt x="0" y="0"/>
                </a:moveTo>
                <a:lnTo>
                  <a:pt x="817902" y="0"/>
                </a:lnTo>
                <a:lnTo>
                  <a:pt x="817902" y="2670698"/>
                </a:lnTo>
                <a:lnTo>
                  <a:pt x="0" y="2670698"/>
                </a:lnTo>
                <a:lnTo>
                  <a:pt x="0" y="0"/>
                </a:lnTo>
                <a:close/>
              </a:path>
            </a:pathLst>
          </a:custGeom>
          <a:blipFill>
            <a:blip r:embed="rId5"/>
            <a:stretch>
              <a:fillRect l="0" t="0" r="0" b="0"/>
            </a:stretch>
          </a:blipFill>
        </p:spPr>
      </p:sp>
      <p:sp>
        <p:nvSpPr>
          <p:cNvPr name="Freeform 7" id="7"/>
          <p:cNvSpPr/>
          <p:nvPr/>
        </p:nvSpPr>
        <p:spPr>
          <a:xfrm flipH="false" flipV="false" rot="0">
            <a:off x="14685983" y="7616302"/>
            <a:ext cx="817901" cy="2670698"/>
          </a:xfrm>
          <a:custGeom>
            <a:avLst/>
            <a:gdLst/>
            <a:ahLst/>
            <a:cxnLst/>
            <a:rect r="r" b="b" t="t" l="l"/>
            <a:pathLst>
              <a:path h="2670698" w="817901">
                <a:moveTo>
                  <a:pt x="0" y="0"/>
                </a:moveTo>
                <a:lnTo>
                  <a:pt x="817902" y="0"/>
                </a:lnTo>
                <a:lnTo>
                  <a:pt x="817902" y="2670698"/>
                </a:lnTo>
                <a:lnTo>
                  <a:pt x="0" y="2670698"/>
                </a:lnTo>
                <a:lnTo>
                  <a:pt x="0" y="0"/>
                </a:lnTo>
                <a:close/>
              </a:path>
            </a:pathLst>
          </a:custGeom>
          <a:blipFill>
            <a:blip r:embed="rId5"/>
            <a:stretch>
              <a:fillRect l="0" t="0" r="0" b="0"/>
            </a:stretch>
          </a:blipFill>
        </p:spPr>
      </p:sp>
      <p:sp>
        <p:nvSpPr>
          <p:cNvPr name="Freeform 8" id="8"/>
          <p:cNvSpPr/>
          <p:nvPr/>
        </p:nvSpPr>
        <p:spPr>
          <a:xfrm flipH="false" flipV="false" rot="0">
            <a:off x="5108825" y="1750696"/>
            <a:ext cx="7315200" cy="1995055"/>
          </a:xfrm>
          <a:custGeom>
            <a:avLst/>
            <a:gdLst/>
            <a:ahLst/>
            <a:cxnLst/>
            <a:rect r="r" b="b" t="t" l="l"/>
            <a:pathLst>
              <a:path h="1995055" w="7315200">
                <a:moveTo>
                  <a:pt x="0" y="0"/>
                </a:moveTo>
                <a:lnTo>
                  <a:pt x="7315200" y="0"/>
                </a:lnTo>
                <a:lnTo>
                  <a:pt x="7315200" y="1995054"/>
                </a:lnTo>
                <a:lnTo>
                  <a:pt x="0" y="19950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0" y="48324"/>
            <a:ext cx="7172929" cy="739141"/>
          </a:xfrm>
          <a:prstGeom prst="rect">
            <a:avLst/>
          </a:prstGeom>
        </p:spPr>
        <p:txBody>
          <a:bodyPr anchor="t" rtlCol="false" tIns="0" lIns="0" bIns="0" rIns="0">
            <a:spAutoFit/>
          </a:bodyPr>
          <a:lstStyle/>
          <a:p>
            <a:pPr algn="ctr">
              <a:lnSpc>
                <a:spcPts val="5459"/>
              </a:lnSpc>
              <a:spcBef>
                <a:spcPct val="0"/>
              </a:spcBef>
            </a:pPr>
            <a:r>
              <a:rPr lang="en-US" sz="3899">
                <a:solidFill>
                  <a:srgbClr val="000000"/>
                </a:solidFill>
                <a:latin typeface="Bungee"/>
                <a:ea typeface="Bungee"/>
                <a:cs typeface="Bungee"/>
                <a:sym typeface="Bungee"/>
              </a:rPr>
              <a:t>Thành viên và đóng góp </a:t>
            </a:r>
          </a:p>
        </p:txBody>
      </p:sp>
      <p:sp>
        <p:nvSpPr>
          <p:cNvPr name="TextBox 10" id="10"/>
          <p:cNvSpPr txBox="true"/>
          <p:nvPr/>
        </p:nvSpPr>
        <p:spPr>
          <a:xfrm rot="0">
            <a:off x="330312" y="4685141"/>
            <a:ext cx="5341818" cy="1902461"/>
          </a:xfrm>
          <a:prstGeom prst="rect">
            <a:avLst/>
          </a:prstGeom>
        </p:spPr>
        <p:txBody>
          <a:bodyPr anchor="t" rtlCol="false" tIns="0" lIns="0" bIns="0" rIns="0">
            <a:spAutoFit/>
          </a:bodyPr>
          <a:lstStyle/>
          <a:p>
            <a:pPr algn="ctr">
              <a:lnSpc>
                <a:spcPts val="6299"/>
              </a:lnSpc>
            </a:pPr>
            <a:r>
              <a:rPr lang="en-US" sz="4499" b="true">
                <a:solidFill>
                  <a:srgbClr val="000000"/>
                </a:solidFill>
                <a:latin typeface="Public Sans Bold"/>
                <a:ea typeface="Public Sans Bold"/>
                <a:cs typeface="Public Sans Bold"/>
                <a:sym typeface="Public Sans Bold"/>
              </a:rPr>
              <a:t>Đỗ Lê Duy</a:t>
            </a:r>
          </a:p>
          <a:p>
            <a:pPr algn="ctr">
              <a:lnSpc>
                <a:spcPts val="4479"/>
              </a:lnSpc>
            </a:pPr>
            <a:r>
              <a:rPr lang="en-US" sz="3199" b="true">
                <a:solidFill>
                  <a:srgbClr val="000000"/>
                </a:solidFill>
                <a:latin typeface="Public Sans Bold"/>
                <a:ea typeface="Public Sans Bold"/>
                <a:cs typeface="Public Sans Bold"/>
                <a:sym typeface="Public Sans Bold"/>
              </a:rPr>
              <a:t>24021445</a:t>
            </a:r>
          </a:p>
          <a:p>
            <a:pPr algn="ctr">
              <a:lnSpc>
                <a:spcPts val="4479"/>
              </a:lnSpc>
              <a:spcBef>
                <a:spcPct val="0"/>
              </a:spcBef>
            </a:pPr>
            <a:r>
              <a:rPr lang="en-US" b="true" sz="3199">
                <a:solidFill>
                  <a:srgbClr val="000000"/>
                </a:solidFill>
                <a:latin typeface="Public Sans Bold"/>
                <a:ea typeface="Public Sans Bold"/>
                <a:cs typeface="Public Sans Bold"/>
                <a:sym typeface="Public Sans Bold"/>
              </a:rPr>
              <a:t>40%</a:t>
            </a:r>
          </a:p>
        </p:txBody>
      </p:sp>
      <p:sp>
        <p:nvSpPr>
          <p:cNvPr name="TextBox 11" id="11"/>
          <p:cNvSpPr txBox="true"/>
          <p:nvPr/>
        </p:nvSpPr>
        <p:spPr>
          <a:xfrm rot="0">
            <a:off x="6377169" y="4685141"/>
            <a:ext cx="5341818" cy="1840865"/>
          </a:xfrm>
          <a:prstGeom prst="rect">
            <a:avLst/>
          </a:prstGeom>
        </p:spPr>
        <p:txBody>
          <a:bodyPr anchor="t" rtlCol="false" tIns="0" lIns="0" bIns="0" rIns="0">
            <a:spAutoFit/>
          </a:bodyPr>
          <a:lstStyle/>
          <a:p>
            <a:pPr algn="ctr">
              <a:lnSpc>
                <a:spcPts val="5739"/>
              </a:lnSpc>
            </a:pPr>
            <a:r>
              <a:rPr lang="en-US" sz="4099" b="true">
                <a:solidFill>
                  <a:srgbClr val="000000"/>
                </a:solidFill>
                <a:latin typeface="Public Sans Bold"/>
                <a:ea typeface="Public Sans Bold"/>
                <a:cs typeface="Public Sans Bold"/>
                <a:sym typeface="Public Sans Bold"/>
              </a:rPr>
              <a:t>Nguyễn Mạnh Kiên</a:t>
            </a:r>
          </a:p>
          <a:p>
            <a:pPr algn="ctr">
              <a:lnSpc>
                <a:spcPts val="4480"/>
              </a:lnSpc>
            </a:pPr>
            <a:r>
              <a:rPr lang="en-US" sz="3200" b="true">
                <a:solidFill>
                  <a:srgbClr val="000000"/>
                </a:solidFill>
                <a:latin typeface="Public Sans Bold"/>
                <a:ea typeface="Public Sans Bold"/>
                <a:cs typeface="Public Sans Bold"/>
                <a:sym typeface="Public Sans Bold"/>
              </a:rPr>
              <a:t>24021541</a:t>
            </a:r>
          </a:p>
          <a:p>
            <a:pPr algn="ctr">
              <a:lnSpc>
                <a:spcPts val="4480"/>
              </a:lnSpc>
              <a:spcBef>
                <a:spcPct val="0"/>
              </a:spcBef>
            </a:pPr>
            <a:r>
              <a:rPr lang="en-US" b="true" sz="3200">
                <a:solidFill>
                  <a:srgbClr val="000000"/>
                </a:solidFill>
                <a:latin typeface="Public Sans Bold"/>
                <a:ea typeface="Public Sans Bold"/>
                <a:cs typeface="Public Sans Bold"/>
                <a:sym typeface="Public Sans Bold"/>
              </a:rPr>
              <a:t>30%</a:t>
            </a:r>
          </a:p>
        </p:txBody>
      </p:sp>
      <p:sp>
        <p:nvSpPr>
          <p:cNvPr name="TextBox 12" id="12"/>
          <p:cNvSpPr txBox="true"/>
          <p:nvPr/>
        </p:nvSpPr>
        <p:spPr>
          <a:xfrm rot="0">
            <a:off x="12424025" y="4667361"/>
            <a:ext cx="5341818" cy="1851544"/>
          </a:xfrm>
          <a:prstGeom prst="rect">
            <a:avLst/>
          </a:prstGeom>
        </p:spPr>
        <p:txBody>
          <a:bodyPr anchor="t" rtlCol="false" tIns="0" lIns="0" bIns="0" rIns="0">
            <a:spAutoFit/>
          </a:bodyPr>
          <a:lstStyle/>
          <a:p>
            <a:pPr algn="ctr">
              <a:lnSpc>
                <a:spcPts val="5936"/>
              </a:lnSpc>
            </a:pPr>
            <a:r>
              <a:rPr lang="en-US" sz="4240" b="true">
                <a:solidFill>
                  <a:srgbClr val="000000"/>
                </a:solidFill>
                <a:latin typeface="Public Sans Bold"/>
                <a:ea typeface="Public Sans Bold"/>
                <a:cs typeface="Public Sans Bold"/>
                <a:sym typeface="Public Sans Bold"/>
              </a:rPr>
              <a:t>Nguyễn Quang Khải</a:t>
            </a:r>
          </a:p>
          <a:p>
            <a:pPr algn="ctr">
              <a:lnSpc>
                <a:spcPts val="4417"/>
              </a:lnSpc>
            </a:pPr>
            <a:r>
              <a:rPr lang="en-US" sz="3155">
                <a:solidFill>
                  <a:srgbClr val="000000"/>
                </a:solidFill>
                <a:latin typeface="Public Sans"/>
                <a:ea typeface="Public Sans"/>
                <a:cs typeface="Public Sans"/>
                <a:sym typeface="Public Sans"/>
              </a:rPr>
              <a:t>24021525</a:t>
            </a:r>
          </a:p>
          <a:p>
            <a:pPr algn="ctr">
              <a:lnSpc>
                <a:spcPts val="4417"/>
              </a:lnSpc>
              <a:spcBef>
                <a:spcPct val="0"/>
              </a:spcBef>
            </a:pPr>
            <a:r>
              <a:rPr lang="en-US" b="true" sz="3155">
                <a:solidFill>
                  <a:srgbClr val="000000"/>
                </a:solidFill>
                <a:latin typeface="Public Sans Bold"/>
                <a:ea typeface="Public Sans Bold"/>
                <a:cs typeface="Public Sans Bold"/>
                <a:sym typeface="Public Sans Bold"/>
              </a:rPr>
              <a:t>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DAHLN-XQ-BU</dc:identifier>
  <dcterms:modified xsi:type="dcterms:W3CDTF">2011-08-01T06:04:30Z</dcterms:modified>
  <cp:revision>1</cp:revision>
  <dc:title>Clean and Professional Company Profile Presentation</dc:title>
</cp:coreProperties>
</file>